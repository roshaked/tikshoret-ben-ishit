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4" r:id="rId3"/>
    <p:sldMasterId id="2147483676" r:id="rId4"/>
  </p:sldMasterIdLst>
  <p:notesMasterIdLst>
    <p:notesMasterId r:id="rId72"/>
  </p:notesMasterIdLst>
  <p:sldIdLst>
    <p:sldId id="256" r:id="rId5"/>
    <p:sldId id="307" r:id="rId6"/>
    <p:sldId id="257" r:id="rId7"/>
    <p:sldId id="258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20" r:id="rId18"/>
    <p:sldId id="321" r:id="rId19"/>
    <p:sldId id="462" r:id="rId20"/>
    <p:sldId id="259" r:id="rId21"/>
    <p:sldId id="260" r:id="rId22"/>
    <p:sldId id="456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457" r:id="rId35"/>
    <p:sldId id="272" r:id="rId36"/>
    <p:sldId id="273" r:id="rId37"/>
    <p:sldId id="274" r:id="rId38"/>
    <p:sldId id="275" r:id="rId39"/>
    <p:sldId id="458" r:id="rId40"/>
    <p:sldId id="276" r:id="rId41"/>
    <p:sldId id="277" r:id="rId42"/>
    <p:sldId id="278" r:id="rId43"/>
    <p:sldId id="459" r:id="rId44"/>
    <p:sldId id="279" r:id="rId45"/>
    <p:sldId id="280" r:id="rId46"/>
    <p:sldId id="281" r:id="rId47"/>
    <p:sldId id="282" r:id="rId48"/>
    <p:sldId id="283" r:id="rId49"/>
    <p:sldId id="364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304" r:id="rId62"/>
    <p:sldId id="460" r:id="rId63"/>
    <p:sldId id="463" r:id="rId64"/>
    <p:sldId id="461" r:id="rId65"/>
    <p:sldId id="464" r:id="rId66"/>
    <p:sldId id="465" r:id="rId67"/>
    <p:sldId id="466" r:id="rId68"/>
    <p:sldId id="467" r:id="rId69"/>
    <p:sldId id="305" r:id="rId70"/>
    <p:sldId id="306" r:id="rId7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7BBE0-725A-4EAF-910F-E15DF9254F1C}" v="3" dt="2026-08-02T13:50:49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46"/>
    <p:restoredTop sz="94404" autoAdjust="0"/>
  </p:normalViewPr>
  <p:slideViewPr>
    <p:cSldViewPr snapToGrid="0" snapToObjects="1">
      <p:cViewPr varScale="1">
        <p:scale>
          <a:sx n="70" d="100"/>
          <a:sy n="70" d="100"/>
        </p:scale>
        <p:origin x="3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ניבה דולב" userId="196c4d5f-7a58-473a-845b-2e3e56e0eefc" providerId="ADAL" clId="{628DE8DC-13E1-470D-92B9-D364C7F77071}"/>
    <pc:docChg chg="custSel addSld delSld modSld">
      <pc:chgData name="ניבה דולב" userId="196c4d5f-7a58-473a-845b-2e3e56e0eefc" providerId="ADAL" clId="{628DE8DC-13E1-470D-92B9-D364C7F77071}" dt="2026-08-02T13:50:49.405" v="1521"/>
      <pc:docMkLst>
        <pc:docMk/>
      </pc:docMkLst>
      <pc:sldChg chg="modSp">
        <pc:chgData name="ניבה דולב" userId="196c4d5f-7a58-473a-845b-2e3e56e0eefc" providerId="ADAL" clId="{628DE8DC-13E1-470D-92B9-D364C7F77071}" dt="2026-07-29T12:39:23.322" v="168" actId="20577"/>
        <pc:sldMkLst>
          <pc:docMk/>
          <pc:sldMk cId="0" sldId="262"/>
        </pc:sldMkLst>
        <pc:spChg chg="mod">
          <ac:chgData name="ניבה דולב" userId="196c4d5f-7a58-473a-845b-2e3e56e0eefc" providerId="ADAL" clId="{628DE8DC-13E1-470D-92B9-D364C7F77071}" dt="2026-07-29T12:38:52.087" v="83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2:38:22.687" v="44" actId="2057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2:38:42.146" v="74" actId="20577"/>
          <ac:spMkLst>
            <pc:docMk/>
            <pc:sldMk cId="0" sldId="262"/>
            <ac:spMk id="25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2:39:23.322" v="168" actId="20577"/>
          <ac:spMkLst>
            <pc:docMk/>
            <pc:sldMk cId="0" sldId="262"/>
            <ac:spMk id="27" creationId="{00000000-0000-0000-0000-000000000000}"/>
          </ac:spMkLst>
        </pc:spChg>
      </pc:sldChg>
      <pc:sldChg chg="modSp">
        <pc:chgData name="ניבה דולב" userId="196c4d5f-7a58-473a-845b-2e3e56e0eefc" providerId="ADAL" clId="{628DE8DC-13E1-470D-92B9-D364C7F77071}" dt="2026-07-29T12:41:08.543" v="174" actId="20577"/>
        <pc:sldMkLst>
          <pc:docMk/>
          <pc:sldMk cId="0" sldId="267"/>
        </pc:sldMkLst>
        <pc:spChg chg="mod">
          <ac:chgData name="ניבה דולב" userId="196c4d5f-7a58-473a-845b-2e3e56e0eefc" providerId="ADAL" clId="{628DE8DC-13E1-470D-92B9-D364C7F77071}" dt="2026-07-29T12:41:08.543" v="174" actId="20577"/>
          <ac:spMkLst>
            <pc:docMk/>
            <pc:sldMk cId="0" sldId="267"/>
            <ac:spMk id="22" creationId="{00000000-0000-0000-0000-000000000000}"/>
          </ac:spMkLst>
        </pc:spChg>
      </pc:sldChg>
      <pc:sldChg chg="modSp">
        <pc:chgData name="ניבה דולב" userId="196c4d5f-7a58-473a-845b-2e3e56e0eefc" providerId="ADAL" clId="{628DE8DC-13E1-470D-92B9-D364C7F77071}" dt="2026-07-29T13:34:55.367" v="934" actId="20577"/>
        <pc:sldMkLst>
          <pc:docMk/>
          <pc:sldMk cId="0" sldId="268"/>
        </pc:sldMkLst>
        <pc:spChg chg="mod">
          <ac:chgData name="ניבה דולב" userId="196c4d5f-7a58-473a-845b-2e3e56e0eefc" providerId="ADAL" clId="{628DE8DC-13E1-470D-92B9-D364C7F77071}" dt="2026-07-29T13:34:55.367" v="934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3:33:04.162" v="854" actId="20577"/>
          <ac:spMkLst>
            <pc:docMk/>
            <pc:sldMk cId="0" sldId="268"/>
            <ac:spMk id="18" creationId="{00000000-0000-0000-0000-000000000000}"/>
          </ac:spMkLst>
        </pc:spChg>
      </pc:sldChg>
      <pc:sldChg chg="modSp">
        <pc:chgData name="ניבה דולב" userId="196c4d5f-7a58-473a-845b-2e3e56e0eefc" providerId="ADAL" clId="{628DE8DC-13E1-470D-92B9-D364C7F77071}" dt="2026-07-29T13:37:29.677" v="944" actId="20577"/>
        <pc:sldMkLst>
          <pc:docMk/>
          <pc:sldMk cId="0" sldId="271"/>
        </pc:sldMkLst>
        <pc:spChg chg="mod">
          <ac:chgData name="ניבה דולב" userId="196c4d5f-7a58-473a-845b-2e3e56e0eefc" providerId="ADAL" clId="{628DE8DC-13E1-470D-92B9-D364C7F77071}" dt="2026-07-29T13:37:29.677" v="944" actId="20577"/>
          <ac:spMkLst>
            <pc:docMk/>
            <pc:sldMk cId="0" sldId="271"/>
            <ac:spMk id="33" creationId="{00000000-0000-0000-0000-000000000000}"/>
          </ac:spMkLst>
        </pc:spChg>
      </pc:sldChg>
      <pc:sldChg chg="modSp">
        <pc:chgData name="ניבה דולב" userId="196c4d5f-7a58-473a-845b-2e3e56e0eefc" providerId="ADAL" clId="{628DE8DC-13E1-470D-92B9-D364C7F77071}" dt="2026-07-29T12:42:13.869" v="176" actId="20577"/>
        <pc:sldMkLst>
          <pc:docMk/>
          <pc:sldMk cId="0" sldId="273"/>
        </pc:sldMkLst>
        <pc:spChg chg="mod">
          <ac:chgData name="ניבה דולב" userId="196c4d5f-7a58-473a-845b-2e3e56e0eefc" providerId="ADAL" clId="{628DE8DC-13E1-470D-92B9-D364C7F77071}" dt="2026-07-29T12:42:13.869" v="176" actId="20577"/>
          <ac:spMkLst>
            <pc:docMk/>
            <pc:sldMk cId="0" sldId="273"/>
            <ac:spMk id="17" creationId="{00000000-0000-0000-0000-000000000000}"/>
          </ac:spMkLst>
        </pc:spChg>
      </pc:sldChg>
      <pc:sldChg chg="modSp">
        <pc:chgData name="ניבה דולב" userId="196c4d5f-7a58-473a-845b-2e3e56e0eefc" providerId="ADAL" clId="{628DE8DC-13E1-470D-92B9-D364C7F77071}" dt="2026-07-29T12:57:11.288" v="391" actId="20577"/>
        <pc:sldMkLst>
          <pc:docMk/>
          <pc:sldMk cId="0" sldId="279"/>
        </pc:sldMkLst>
        <pc:spChg chg="mod">
          <ac:chgData name="ניבה דולב" userId="196c4d5f-7a58-473a-845b-2e3e56e0eefc" providerId="ADAL" clId="{628DE8DC-13E1-470D-92B9-D364C7F77071}" dt="2026-07-29T12:56:31.369" v="346" actId="20577"/>
          <ac:spMkLst>
            <pc:docMk/>
            <pc:sldMk cId="0" sldId="279"/>
            <ac:spMk id="9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2:56:05.821" v="288" actId="20577"/>
          <ac:spMkLst>
            <pc:docMk/>
            <pc:sldMk cId="0" sldId="279"/>
            <ac:spMk id="12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2:56:16.567" v="314" actId="20577"/>
          <ac:spMkLst>
            <pc:docMk/>
            <pc:sldMk cId="0" sldId="279"/>
            <ac:spMk id="18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2:57:11.288" v="391" actId="20577"/>
          <ac:spMkLst>
            <pc:docMk/>
            <pc:sldMk cId="0" sldId="279"/>
            <ac:spMk id="21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2:55:38.447" v="263" actId="20577"/>
          <ac:spMkLst>
            <pc:docMk/>
            <pc:sldMk cId="0" sldId="279"/>
            <ac:spMk id="23" creationId="{00000000-0000-0000-0000-000000000000}"/>
          </ac:spMkLst>
        </pc:spChg>
      </pc:sldChg>
      <pc:sldChg chg="modSp">
        <pc:chgData name="ניבה דולב" userId="196c4d5f-7a58-473a-845b-2e3e56e0eefc" providerId="ADAL" clId="{628DE8DC-13E1-470D-92B9-D364C7F77071}" dt="2026-07-29T12:58:35.808" v="520" actId="20577"/>
        <pc:sldMkLst>
          <pc:docMk/>
          <pc:sldMk cId="0" sldId="280"/>
        </pc:sldMkLst>
        <pc:spChg chg="mod">
          <ac:chgData name="ניבה דולב" userId="196c4d5f-7a58-473a-845b-2e3e56e0eefc" providerId="ADAL" clId="{628DE8DC-13E1-470D-92B9-D364C7F77071}" dt="2026-07-29T12:58:32.708" v="519" actId="20577"/>
          <ac:spMkLst>
            <pc:docMk/>
            <pc:sldMk cId="0" sldId="280"/>
            <ac:spMk id="15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2:58:35.808" v="520" actId="20577"/>
          <ac:spMkLst>
            <pc:docMk/>
            <pc:sldMk cId="0" sldId="280"/>
            <ac:spMk id="16" creationId="{00000000-0000-0000-0000-000000000000}"/>
          </ac:spMkLst>
        </pc:spChg>
      </pc:sldChg>
      <pc:sldChg chg="modSp">
        <pc:chgData name="ניבה דולב" userId="196c4d5f-7a58-473a-845b-2e3e56e0eefc" providerId="ADAL" clId="{628DE8DC-13E1-470D-92B9-D364C7F77071}" dt="2026-07-29T13:03:19.339" v="565" actId="20577"/>
        <pc:sldMkLst>
          <pc:docMk/>
          <pc:sldMk cId="0" sldId="282"/>
        </pc:sldMkLst>
        <pc:spChg chg="mod">
          <ac:chgData name="ניבה דולב" userId="196c4d5f-7a58-473a-845b-2e3e56e0eefc" providerId="ADAL" clId="{628DE8DC-13E1-470D-92B9-D364C7F77071}" dt="2026-07-29T13:03:19.339" v="565" actId="20577"/>
          <ac:spMkLst>
            <pc:docMk/>
            <pc:sldMk cId="0" sldId="282"/>
            <ac:spMk id="25" creationId="{00000000-0000-0000-0000-000000000000}"/>
          </ac:spMkLst>
        </pc:spChg>
      </pc:sldChg>
      <pc:sldChg chg="addSp modSp modAnim">
        <pc:chgData name="ניבה דולב" userId="196c4d5f-7a58-473a-845b-2e3e56e0eefc" providerId="ADAL" clId="{628DE8DC-13E1-470D-92B9-D364C7F77071}" dt="2026-07-29T13:47:38.097" v="950" actId="1076"/>
        <pc:sldMkLst>
          <pc:docMk/>
          <pc:sldMk cId="0" sldId="283"/>
        </pc:sldMkLst>
        <pc:spChg chg="mod">
          <ac:chgData name="ניבה דולב" userId="196c4d5f-7a58-473a-845b-2e3e56e0eefc" providerId="ADAL" clId="{628DE8DC-13E1-470D-92B9-D364C7F77071}" dt="2026-07-29T13:03:53.039" v="592" actId="20577"/>
          <ac:spMkLst>
            <pc:docMk/>
            <pc:sldMk cId="0" sldId="283"/>
            <ac:spMk id="16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3:04:05.281" v="607" actId="20577"/>
          <ac:spMkLst>
            <pc:docMk/>
            <pc:sldMk cId="0" sldId="283"/>
            <ac:spMk id="22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3:04:12.815" v="624" actId="20577"/>
          <ac:spMkLst>
            <pc:docMk/>
            <pc:sldMk cId="0" sldId="283"/>
            <ac:spMk id="23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3:04:39.248" v="664" actId="20577"/>
          <ac:spMkLst>
            <pc:docMk/>
            <pc:sldMk cId="0" sldId="283"/>
            <ac:spMk id="25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3:04:42.260" v="665" actId="20577"/>
          <ac:spMkLst>
            <pc:docMk/>
            <pc:sldMk cId="0" sldId="283"/>
            <ac:spMk id="26" creationId="{00000000-0000-0000-0000-000000000000}"/>
          </ac:spMkLst>
        </pc:spChg>
        <pc:spChg chg="mod">
          <ac:chgData name="ניבה דולב" userId="196c4d5f-7a58-473a-845b-2e3e56e0eefc" providerId="ADAL" clId="{628DE8DC-13E1-470D-92B9-D364C7F77071}" dt="2026-07-29T13:47:38.097" v="950" actId="1076"/>
          <ac:spMkLst>
            <pc:docMk/>
            <pc:sldMk cId="0" sldId="283"/>
            <ac:spMk id="28" creationId="{D5F1F6AD-D291-1DEE-9DD5-1528AA5D27AE}"/>
          </ac:spMkLst>
        </pc:spChg>
        <pc:spChg chg="mod">
          <ac:chgData name="ניבה דולב" userId="196c4d5f-7a58-473a-845b-2e3e56e0eefc" providerId="ADAL" clId="{628DE8DC-13E1-470D-92B9-D364C7F77071}" dt="2026-07-29T13:47:38.097" v="950" actId="1076"/>
          <ac:spMkLst>
            <pc:docMk/>
            <pc:sldMk cId="0" sldId="283"/>
            <ac:spMk id="29" creationId="{01FA59D8-588E-207A-0E56-F80E7B836086}"/>
          </ac:spMkLst>
        </pc:spChg>
        <pc:spChg chg="mod">
          <ac:chgData name="ניבה דולב" userId="196c4d5f-7a58-473a-845b-2e3e56e0eefc" providerId="ADAL" clId="{628DE8DC-13E1-470D-92B9-D364C7F77071}" dt="2026-07-29T13:47:38.097" v="950" actId="1076"/>
          <ac:spMkLst>
            <pc:docMk/>
            <pc:sldMk cId="0" sldId="283"/>
            <ac:spMk id="30" creationId="{CD3A417A-11D5-AF1E-A3C9-C69C3B6E9292}"/>
          </ac:spMkLst>
        </pc:spChg>
        <pc:spChg chg="mod">
          <ac:chgData name="ניבה דולב" userId="196c4d5f-7a58-473a-845b-2e3e56e0eefc" providerId="ADAL" clId="{628DE8DC-13E1-470D-92B9-D364C7F77071}" dt="2026-07-29T13:47:38.097" v="950" actId="1076"/>
          <ac:spMkLst>
            <pc:docMk/>
            <pc:sldMk cId="0" sldId="283"/>
            <ac:spMk id="31" creationId="{7E103E79-99C3-F681-D845-BCBED0659D22}"/>
          </ac:spMkLst>
        </pc:spChg>
        <pc:spChg chg="mod">
          <ac:chgData name="ניבה דולב" userId="196c4d5f-7a58-473a-845b-2e3e56e0eefc" providerId="ADAL" clId="{628DE8DC-13E1-470D-92B9-D364C7F77071}" dt="2026-07-29T13:47:38.097" v="950" actId="1076"/>
          <ac:spMkLst>
            <pc:docMk/>
            <pc:sldMk cId="0" sldId="283"/>
            <ac:spMk id="32" creationId="{E1E69EFB-A71B-2370-E5CC-51265EB047C2}"/>
          </ac:spMkLst>
        </pc:spChg>
        <pc:spChg chg="mod">
          <ac:chgData name="ניבה דולב" userId="196c4d5f-7a58-473a-845b-2e3e56e0eefc" providerId="ADAL" clId="{628DE8DC-13E1-470D-92B9-D364C7F77071}" dt="2026-07-29T13:47:38.097" v="950" actId="1076"/>
          <ac:spMkLst>
            <pc:docMk/>
            <pc:sldMk cId="0" sldId="283"/>
            <ac:spMk id="33" creationId="{D4231549-72F5-F174-ADC3-D39CC53111B5}"/>
          </ac:spMkLst>
        </pc:spChg>
        <pc:grpChg chg="add mod">
          <ac:chgData name="ניבה דולב" userId="196c4d5f-7a58-473a-845b-2e3e56e0eefc" providerId="ADAL" clId="{628DE8DC-13E1-470D-92B9-D364C7F77071}" dt="2026-07-29T13:47:38.097" v="950" actId="1076"/>
          <ac:grpSpMkLst>
            <pc:docMk/>
            <pc:sldMk cId="0" sldId="283"/>
            <ac:grpSpMk id="27" creationId="{7C8261C5-2BAA-00DD-9CB6-DAF83DD9578A}"/>
          </ac:grpSpMkLst>
        </pc:grpChg>
      </pc:sldChg>
      <pc:sldChg chg="del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0" sldId="295"/>
        </pc:sldMkLst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1976775249" sldId="295"/>
        </pc:sldMkLst>
      </pc:sldChg>
      <pc:sldChg chg="modSp del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0" sldId="296"/>
        </pc:sldMkLst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2076372023" sldId="296"/>
        </pc:sldMkLst>
      </pc:sldChg>
      <pc:sldChg chg="modSp del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0" sldId="297"/>
        </pc:sldMkLst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505282552" sldId="297"/>
        </pc:sldMkLst>
      </pc:sldChg>
      <pc:sldChg chg="del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0" sldId="298"/>
        </pc:sldMkLst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915114931" sldId="298"/>
        </pc:sldMkLst>
      </pc:sldChg>
      <pc:sldChg chg="del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0" sldId="299"/>
        </pc:sldMkLst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3180398199" sldId="299"/>
        </pc:sldMkLst>
      </pc:sldChg>
      <pc:sldChg chg="del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0" sldId="300"/>
        </pc:sldMkLst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2072269994" sldId="300"/>
        </pc:sldMkLst>
      </pc:sldChg>
      <pc:sldChg chg="del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0" sldId="301"/>
        </pc:sldMkLst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367634732" sldId="301"/>
        </pc:sldMkLst>
      </pc:sldChg>
      <pc:sldChg chg="del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0" sldId="302"/>
        </pc:sldMkLst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3728762389" sldId="302"/>
        </pc:sldMkLst>
      </pc:sldChg>
      <pc:sldChg chg="del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0" sldId="303"/>
        </pc:sldMkLst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3021211564" sldId="303"/>
        </pc:sldMkLst>
      </pc:sldChg>
      <pc:sldChg chg="add del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0" sldId="320"/>
        </pc:sldMkLst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2990029668" sldId="320"/>
        </pc:sldMkLst>
      </pc:sldChg>
      <pc:sldChg chg="add del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0" sldId="321"/>
        </pc:sldMkLst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970996859" sldId="321"/>
        </pc:sldMkLst>
      </pc:sldChg>
      <pc:sldChg chg="add">
        <pc:chgData name="ניבה דולב" userId="196c4d5f-7a58-473a-845b-2e3e56e0eefc" providerId="ADAL" clId="{628DE8DC-13E1-470D-92B9-D364C7F77071}" dt="2026-07-29T13:48:16.221" v="951"/>
        <pc:sldMkLst>
          <pc:docMk/>
          <pc:sldMk cId="3412342586" sldId="364"/>
        </pc:sldMkLst>
      </pc:sldChg>
      <pc:sldChg chg="modSp add">
        <pc:chgData name="ניבה דולב" userId="196c4d5f-7a58-473a-845b-2e3e56e0eefc" providerId="ADAL" clId="{628DE8DC-13E1-470D-92B9-D364C7F77071}" dt="2026-07-29T13:22:23.246" v="747" actId="1076"/>
        <pc:sldMkLst>
          <pc:docMk/>
          <pc:sldMk cId="0" sldId="456"/>
        </pc:sldMkLst>
        <pc:spChg chg="mod">
          <ac:chgData name="ניבה דולב" userId="196c4d5f-7a58-473a-845b-2e3e56e0eefc" providerId="ADAL" clId="{628DE8DC-13E1-470D-92B9-D364C7F77071}" dt="2026-07-29T13:22:23.246" v="747" actId="1076"/>
          <ac:spMkLst>
            <pc:docMk/>
            <pc:sldMk cId="0" sldId="456"/>
            <ac:spMk id="18435" creationId="{7CD5D61D-2E21-4061-BDF2-5FB8D39006F5}"/>
          </ac:spMkLst>
        </pc:spChg>
      </pc:sldChg>
      <pc:sldChg chg="add">
        <pc:chgData name="ניבה דולב" userId="196c4d5f-7a58-473a-845b-2e3e56e0eefc" providerId="ADAL" clId="{628DE8DC-13E1-470D-92B9-D364C7F77071}" dt="2026-07-29T13:45:22.778" v="945"/>
        <pc:sldMkLst>
          <pc:docMk/>
          <pc:sldMk cId="0" sldId="458"/>
        </pc:sldMkLst>
      </pc:sldChg>
      <pc:sldChg chg="add">
        <pc:chgData name="ניבה דולב" userId="196c4d5f-7a58-473a-845b-2e3e56e0eefc" providerId="ADAL" clId="{628DE8DC-13E1-470D-92B9-D364C7F77071}" dt="2026-07-29T13:46:18.664" v="946"/>
        <pc:sldMkLst>
          <pc:docMk/>
          <pc:sldMk cId="0" sldId="459"/>
        </pc:sldMkLst>
      </pc:sldChg>
      <pc:sldChg chg="addSp modSp new mod modClrScheme chgLayout modNotesTx">
        <pc:chgData name="ניבה דולב" userId="196c4d5f-7a58-473a-845b-2e3e56e0eefc" providerId="ADAL" clId="{628DE8DC-13E1-470D-92B9-D364C7F77071}" dt="2026-08-02T11:41:40.695" v="1259" actId="20577"/>
        <pc:sldMkLst>
          <pc:docMk/>
          <pc:sldMk cId="1749327545" sldId="460"/>
        </pc:sldMkLst>
        <pc:spChg chg="add mod">
          <ac:chgData name="ניבה דולב" userId="196c4d5f-7a58-473a-845b-2e3e56e0eefc" providerId="ADAL" clId="{628DE8DC-13E1-470D-92B9-D364C7F77071}" dt="2026-08-02T11:39:00.397" v="1157" actId="20577"/>
          <ac:spMkLst>
            <pc:docMk/>
            <pc:sldMk cId="1749327545" sldId="460"/>
            <ac:spMk id="2" creationId="{D88598F6-C2CD-7500-4EE3-E5E071ED339C}"/>
          </ac:spMkLst>
        </pc:spChg>
        <pc:spChg chg="add mod">
          <ac:chgData name="ניבה דולב" userId="196c4d5f-7a58-473a-845b-2e3e56e0eefc" providerId="ADAL" clId="{628DE8DC-13E1-470D-92B9-D364C7F77071}" dt="2026-08-02T11:38:54.997" v="1147" actId="20577"/>
          <ac:spMkLst>
            <pc:docMk/>
            <pc:sldMk cId="1749327545" sldId="460"/>
            <ac:spMk id="3" creationId="{580A7D18-9AA3-E7F8-78F9-158E86F05842}"/>
          </ac:spMkLst>
        </pc:spChg>
      </pc:sldChg>
      <pc:sldChg chg="modSp new mod modNotesTx">
        <pc:chgData name="ניבה דולב" userId="196c4d5f-7a58-473a-845b-2e3e56e0eefc" providerId="ADAL" clId="{628DE8DC-13E1-470D-92B9-D364C7F77071}" dt="2026-08-02T11:45:00.261" v="1375" actId="2711"/>
        <pc:sldMkLst>
          <pc:docMk/>
          <pc:sldMk cId="1153085990" sldId="461"/>
        </pc:sldMkLst>
        <pc:spChg chg="mod">
          <ac:chgData name="ניבה דולב" userId="196c4d5f-7a58-473a-845b-2e3e56e0eefc" providerId="ADAL" clId="{628DE8DC-13E1-470D-92B9-D364C7F77071}" dt="2026-08-02T11:40:56.810" v="1233" actId="20577"/>
          <ac:spMkLst>
            <pc:docMk/>
            <pc:sldMk cId="1153085990" sldId="461"/>
            <ac:spMk id="2" creationId="{A4C7F085-09BC-0327-4CD9-B41B83195564}"/>
          </ac:spMkLst>
        </pc:spChg>
        <pc:spChg chg="mod">
          <ac:chgData name="ניבה דולב" userId="196c4d5f-7a58-473a-845b-2e3e56e0eefc" providerId="ADAL" clId="{628DE8DC-13E1-470D-92B9-D364C7F77071}" dt="2026-08-02T11:45:00.261" v="1375" actId="2711"/>
          <ac:spMkLst>
            <pc:docMk/>
            <pc:sldMk cId="1153085990" sldId="461"/>
            <ac:spMk id="3" creationId="{20D82AB7-9A78-2695-8855-830E3B958133}"/>
          </ac:spMkLst>
        </pc:spChg>
      </pc:sldChg>
      <pc:sldChg chg="add">
        <pc:chgData name="ניבה דולב" userId="196c4d5f-7a58-473a-845b-2e3e56e0eefc" providerId="ADAL" clId="{628DE8DC-13E1-470D-92B9-D364C7F77071}" dt="2026-08-02T13:50:49.405" v="1521"/>
        <pc:sldMkLst>
          <pc:docMk/>
          <pc:sldMk cId="1419044319" sldId="462"/>
        </pc:sldMkLst>
      </pc:sldChg>
      <pc:sldChg chg="modSp new del mod modNotesTx">
        <pc:chgData name="ניבה דולב" userId="196c4d5f-7a58-473a-845b-2e3e56e0eefc" providerId="ADAL" clId="{628DE8DC-13E1-470D-92B9-D364C7F77071}" dt="2026-08-02T13:50:32.322" v="1520" actId="2696"/>
        <pc:sldMkLst>
          <pc:docMk/>
          <pc:sldMk cId="3777977209" sldId="462"/>
        </pc:sldMkLst>
        <pc:spChg chg="mod">
          <ac:chgData name="ניבה דולב" userId="196c4d5f-7a58-473a-845b-2e3e56e0eefc" providerId="ADAL" clId="{628DE8DC-13E1-470D-92B9-D364C7F77071}" dt="2026-08-02T11:51:34.522" v="1519" actId="20577"/>
          <ac:spMkLst>
            <pc:docMk/>
            <pc:sldMk cId="3777977209" sldId="462"/>
            <ac:spMk id="2" creationId="{3E0D7187-2F6C-6CB3-2418-DD67C6930E16}"/>
          </ac:spMkLst>
        </pc:spChg>
        <pc:spChg chg="mod">
          <ac:chgData name="ניבה דולב" userId="196c4d5f-7a58-473a-845b-2e3e56e0eefc" providerId="ADAL" clId="{628DE8DC-13E1-470D-92B9-D364C7F77071}" dt="2026-08-02T11:42:48.674" v="1278" actId="20577"/>
          <ac:spMkLst>
            <pc:docMk/>
            <pc:sldMk cId="3777977209" sldId="462"/>
            <ac:spMk id="3" creationId="{9BAD92CF-8D5D-5AA5-B04A-8A84AEE8408D}"/>
          </ac:spMkLst>
        </pc:spChg>
      </pc:sldChg>
      <pc:sldChg chg="modSp new mod modNotesTx">
        <pc:chgData name="ניבה דולב" userId="196c4d5f-7a58-473a-845b-2e3e56e0eefc" providerId="ADAL" clId="{628DE8DC-13E1-470D-92B9-D364C7F77071}" dt="2026-08-02T11:51:26.548" v="1510" actId="2711"/>
        <pc:sldMkLst>
          <pc:docMk/>
          <pc:sldMk cId="4074988371" sldId="463"/>
        </pc:sldMkLst>
        <pc:spChg chg="mod">
          <ac:chgData name="ניבה דולב" userId="196c4d5f-7a58-473a-845b-2e3e56e0eefc" providerId="ADAL" clId="{628DE8DC-13E1-470D-92B9-D364C7F77071}" dt="2026-08-02T11:51:18.925" v="1509" actId="20577"/>
          <ac:spMkLst>
            <pc:docMk/>
            <pc:sldMk cId="4074988371" sldId="463"/>
            <ac:spMk id="2" creationId="{FFC78EB8-7A27-605E-283A-D66A68FC04A0}"/>
          </ac:spMkLst>
        </pc:spChg>
        <pc:spChg chg="mod">
          <ac:chgData name="ניבה דולב" userId="196c4d5f-7a58-473a-845b-2e3e56e0eefc" providerId="ADAL" clId="{628DE8DC-13E1-470D-92B9-D364C7F77071}" dt="2026-08-02T11:51:26.548" v="1510" actId="2711"/>
          <ac:spMkLst>
            <pc:docMk/>
            <pc:sldMk cId="4074988371" sldId="463"/>
            <ac:spMk id="3" creationId="{8129BA92-9148-0BBE-6D13-7EA6D4D59435}"/>
          </ac:spMkLst>
        </pc:spChg>
      </pc:sldChg>
      <pc:sldChg chg="modSp new mod modNotesTx">
        <pc:chgData name="ניבה דולב" userId="196c4d5f-7a58-473a-845b-2e3e56e0eefc" providerId="ADAL" clId="{628DE8DC-13E1-470D-92B9-D364C7F77071}" dt="2026-08-02T11:51:06.323" v="1500" actId="20577"/>
        <pc:sldMkLst>
          <pc:docMk/>
          <pc:sldMk cId="4258797563" sldId="464"/>
        </pc:sldMkLst>
        <pc:spChg chg="mod">
          <ac:chgData name="ניבה דולב" userId="196c4d5f-7a58-473a-845b-2e3e56e0eefc" providerId="ADAL" clId="{628DE8DC-13E1-470D-92B9-D364C7F77071}" dt="2026-08-02T11:50:53.032" v="1497" actId="20577"/>
          <ac:spMkLst>
            <pc:docMk/>
            <pc:sldMk cId="4258797563" sldId="464"/>
            <ac:spMk id="2" creationId="{8DF1DC46-1766-F2EE-E316-7405278BAD2C}"/>
          </ac:spMkLst>
        </pc:spChg>
        <pc:spChg chg="mod">
          <ac:chgData name="ניבה דולב" userId="196c4d5f-7a58-473a-845b-2e3e56e0eefc" providerId="ADAL" clId="{628DE8DC-13E1-470D-92B9-D364C7F77071}" dt="2026-08-02T11:51:06.323" v="1500" actId="20577"/>
          <ac:spMkLst>
            <pc:docMk/>
            <pc:sldMk cId="4258797563" sldId="464"/>
            <ac:spMk id="3" creationId="{052854AE-CBC7-327F-0D6A-B020373E61DA}"/>
          </ac:spMkLst>
        </pc:spChg>
      </pc:sldChg>
      <pc:sldChg chg="modSp new mod modNotesTx">
        <pc:chgData name="ניבה דולב" userId="196c4d5f-7a58-473a-845b-2e3e56e0eefc" providerId="ADAL" clId="{628DE8DC-13E1-470D-92B9-D364C7F77071}" dt="2026-08-02T11:50:47.393" v="1488" actId="20577"/>
        <pc:sldMkLst>
          <pc:docMk/>
          <pc:sldMk cId="1307349801" sldId="465"/>
        </pc:sldMkLst>
        <pc:spChg chg="mod">
          <ac:chgData name="ניבה דולב" userId="196c4d5f-7a58-473a-845b-2e3e56e0eefc" providerId="ADAL" clId="{628DE8DC-13E1-470D-92B9-D364C7F77071}" dt="2026-08-02T11:50:47.393" v="1488" actId="20577"/>
          <ac:spMkLst>
            <pc:docMk/>
            <pc:sldMk cId="1307349801" sldId="465"/>
            <ac:spMk id="2" creationId="{151DFF56-B474-118E-5811-569C46492923}"/>
          </ac:spMkLst>
        </pc:spChg>
        <pc:spChg chg="mod">
          <ac:chgData name="ניבה דולב" userId="196c4d5f-7a58-473a-845b-2e3e56e0eefc" providerId="ADAL" clId="{628DE8DC-13E1-470D-92B9-D364C7F77071}" dt="2026-08-02T11:48:27.146" v="1406" actId="782"/>
          <ac:spMkLst>
            <pc:docMk/>
            <pc:sldMk cId="1307349801" sldId="465"/>
            <ac:spMk id="3" creationId="{0F0A920B-93A1-46B8-AB64-1C85B1911610}"/>
          </ac:spMkLst>
        </pc:spChg>
      </pc:sldChg>
      <pc:sldChg chg="modSp new mod modNotesTx">
        <pc:chgData name="ניבה דולב" userId="196c4d5f-7a58-473a-845b-2e3e56e0eefc" providerId="ADAL" clId="{628DE8DC-13E1-470D-92B9-D364C7F77071}" dt="2026-08-02T11:50:42.340" v="1479" actId="20577"/>
        <pc:sldMkLst>
          <pc:docMk/>
          <pc:sldMk cId="2846122769" sldId="466"/>
        </pc:sldMkLst>
        <pc:spChg chg="mod">
          <ac:chgData name="ניבה דולב" userId="196c4d5f-7a58-473a-845b-2e3e56e0eefc" providerId="ADAL" clId="{628DE8DC-13E1-470D-92B9-D364C7F77071}" dt="2026-08-02T11:50:42.340" v="1479" actId="20577"/>
          <ac:spMkLst>
            <pc:docMk/>
            <pc:sldMk cId="2846122769" sldId="466"/>
            <ac:spMk id="2" creationId="{526D1CB6-4F63-135D-1122-DABFF5C81218}"/>
          </ac:spMkLst>
        </pc:spChg>
        <pc:spChg chg="mod">
          <ac:chgData name="ניבה דולב" userId="196c4d5f-7a58-473a-845b-2e3e56e0eefc" providerId="ADAL" clId="{628DE8DC-13E1-470D-92B9-D364C7F77071}" dt="2026-08-02T11:49:11.206" v="1417" actId="121"/>
          <ac:spMkLst>
            <pc:docMk/>
            <pc:sldMk cId="2846122769" sldId="466"/>
            <ac:spMk id="3" creationId="{773CF59E-923B-B583-57FC-C3DDA4A9608D}"/>
          </ac:spMkLst>
        </pc:spChg>
      </pc:sldChg>
      <pc:sldChg chg="modSp new mod modNotesTx">
        <pc:chgData name="ניבה דולב" userId="196c4d5f-7a58-473a-845b-2e3e56e0eefc" providerId="ADAL" clId="{628DE8DC-13E1-470D-92B9-D364C7F77071}" dt="2026-08-02T11:50:35.123" v="1466" actId="20577"/>
        <pc:sldMkLst>
          <pc:docMk/>
          <pc:sldMk cId="2713753288" sldId="467"/>
        </pc:sldMkLst>
        <pc:spChg chg="mod">
          <ac:chgData name="ניבה דולב" userId="196c4d5f-7a58-473a-845b-2e3e56e0eefc" providerId="ADAL" clId="{628DE8DC-13E1-470D-92B9-D364C7F77071}" dt="2026-08-02T11:50:35.123" v="1466" actId="20577"/>
          <ac:spMkLst>
            <pc:docMk/>
            <pc:sldMk cId="2713753288" sldId="467"/>
            <ac:spMk id="2" creationId="{62F91D7E-03EA-D932-6C71-DFD0EAC3E546}"/>
          </ac:spMkLst>
        </pc:spChg>
        <pc:spChg chg="mod">
          <ac:chgData name="ניבה דולב" userId="196c4d5f-7a58-473a-845b-2e3e56e0eefc" providerId="ADAL" clId="{628DE8DC-13E1-470D-92B9-D364C7F77071}" dt="2026-08-02T11:50:18.463" v="1448" actId="20577"/>
          <ac:spMkLst>
            <pc:docMk/>
            <pc:sldMk cId="2713753288" sldId="467"/>
            <ac:spMk id="3" creationId="{0A3F9D89-B65E-34BE-A0E6-ECCE25C686A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48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פתיחה. להסביר את מהלך השיעור: חמישה חלקים, עצירות קצרות לסקר ולצ'אט, שאלות בצ'אט ואתייחס בסוף כל חלק.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C122-A951-E721-CD3D-87D5CE827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613DA-40F2-A7ED-165A-122966590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CEAAB-8C27-5FBF-14EF-BD4DA4497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עצירה: מילה אחת בצ׳אט — הערוץ הכי גרוע שבו קיבלתם בשורה חשובה.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AD694-F164-98DA-7783-B57A9462A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69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היום לא לומדים חומר חדש. לוקחים את כל הקורס ומחברים אותו לסיפור אחד.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המשפט הזה הוא הציר של כל הקורס. שני החוטים — מודעות ובחירה — יחזרו בכל חלק.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220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אין זמן להשוות ערכים תזונתיים של פלאפל מול סביח. לכן רוב ההחלטות בנתיב ההיקפי.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6639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עצירה: סקר — איזה עיקרון פועל עליכם הכי הרבה?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761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הניסוח המדויק: מהירה ואינטואיטיבית, די מדויקת אך לא מדויקת.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62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שימו לב שהילה וקרניים הם אותו מנגנון בשני כיוונים — וזה בדיוק מה שהמסיחים בודקים.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257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שתי נקודות שנבחנות ישירות: שהוא לא תמיד מודע, ושהמחיר הגבוה ביותר הוא כשהוא לא אותנטי.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1508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שימו לב שבבחינה עלולה להופיע שאלה שבה כל המאפיינים נכונים — תנועות גדולות, ידיים פתוחות ורכינה קדימה הם כולם שפת גוף פתוחה.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019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סימן ה-OK הוא כסף ביפן וסימן גנאי בחלקים מדרום אירופה. סמלים תלויי תרבות.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311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לפעמים שריר אחד זז ואנחנו קולטים שמשהו לא יושב טוב — זה הרגע לעצור ולשאול.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9956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he-IL" dirty="0"/>
              <a:t>תשובה ב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09099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להדגיש שזו הגדרה עם שני תנאים. סטודנטים נוטים לזכור רק את הראשון.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עצירה: סקר — באיזה מודל אנחנו כרגע בזום? תלוי אם המצלמות פתוחות.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להדגיש: כאב ראש = פיזיולוגי, לא פסיכולוגי. דעה קדומה = פסיכולוגי, לא סמנטי.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זו אחת הנקודות המרכזיות של הקורס כולו. חוזרת גם בקונפליקטים וגם בעבודת צוות.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אחד מהשלושה הוא ציר, לא בחירה בין טוב לרע. צריך את שני הקצוות, כל אחד בזמנו.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לא ׳תמיד׳ ולא ׳רק כשיש הלימה׳ — הניסוח המדויק הוא: בעיקר באי-הלימה.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להדגיש: כשירות היא שריר. גם מי שמרגיש שזה לא בא לו בטבעיות יכול לשפר.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בערוץ דל המוח ממלא את החסר בפרשנות שלילית. ציניות מתה בערוץ דל.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עצירה: מילה אחת בצ׳אט — הערוץ הכי גרוע שבו קיבלתם בשורה חשובה.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דימוי הבור של ברנה בראון: אמפתיה = לרדת לבור. סימפטיה = לעמוד למעלה ולזרוק חבל.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זו כנראה הנקודה שהכי סביר שתיבחן. לזהות מרכיב מתוך תרחיש.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ניסוי דארלי ובאטסון: לחץ הזמן ניבא מי יעזור, לא נושא ההרצאה שממנה יצאו.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שאלה פתוחה = אין לה תשובת כן/לא ואין לה תשובה נכונה.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להדגיש את המילים ״בשלב הראשון״. סטודנטים נוטים להבין שאסור לייעץ בכלל.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שיקוף מתאר את הרגש. תיקוף מכשיר אותו כסביר. זו ההבחנה.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״במקום שיש בו אמפתיה אין בושה״ — ברנה בראון. בושה מורידה תפקוד.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 מילות מפתח בהגדרה: תלות, תפיסה, לא-תואמות.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עצירה: סקר — על מה הריב האחרון שלכם היה באמת? התשובה כמעט תמיד יחסים או לחץ.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 התגובות — לשים לב שקיפאון וריצוי פחות מוכרות ולכן נבחנות.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שני הצירים: אסרטיביות = דאגה לעצמי, שיתופיות = דאגה לאחר.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דוגמת שני הצוותים והחדר: פשרה = שעה לכל אחד. שיתוף פעולה = שואלים למה.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ההבחנה שהכי מבלבלת: רגשות = מה זה עושה לי. זהות = מה זה אומר עליי.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שני מוקשים: הסדר של ארבעת השלבים, ובקשה מול דרישה.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אנחנו בוחרים חברים לפי דמיון — אבל צוות צריך משאבים משלימים. אי אפשר שכולם יהיו חלוצים.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עצירה: באיזה שלב נתקעה העבודה הקבוצתית האחרונה שלכם? כמעט תמיד סערה.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איזון משימה-תחזוקה: רק משימה = שחיקה. רק יחסים = לא מגיעים ליעד.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שפה מדירה משאירה אותך בחוץ; שפה שוללת מבטלת אותך כשאתה בפנים.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סיפור המעליות: הבעיה לא הייתה המהירות אלא השעמום בהמתנה. תלו מראה.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אש: נבדקים אמרו בקול תשובה שגויה רק כי כולם אמרו אותה לפניהם — והם ידעו שזו טעות.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חקר מוקיר: כשחוקרים כשל מתחילים דווקא ממה שכן עבד.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אם על כל טעות צועקים, אנשים יעשו את המינימום כדי לא לטעות.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לפני שאני כועס על מישהו שהוא חצוף מדי או שקט מדי — לשאול עם איזו מערכת הפעלה הוא מגיע.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לחבר חזרה לשקופית השלישית — אותם שני חוטים שפתחנו בהם.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he-IL" dirty="0"/>
              <a:t>תשובה א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409191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he-IL" dirty="0"/>
              <a:t>תשובה א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2942701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he-IL" dirty="0"/>
              <a:t>תשובה ד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959790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he-IL" dirty="0"/>
              <a:t>תשובה ג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3138560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he-IL" dirty="0"/>
              <a:t>תשובה א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9408655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he-IL" dirty="0"/>
              <a:t>תשובה ד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240728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he-IL" dirty="0"/>
              <a:t>תשובה ד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2421557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להזכיר את רשימת המושגים וטבלת ההבחנות שחולקה.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סוף. לפתוח לשאלות מהצ׳אט.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8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2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73CB6F-B0DD-4B53-9ED9-518BD1ABE8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A561D2-A2CD-4271-950E-C90518D42E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FC37A3-73FE-4090-9163-27925F522F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8DD65D-33D2-41EC-B80F-2537BDE6474E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03153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CAF95B-1CF9-43B4-BA9E-6E68BFCA9B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2B18FC-0552-4F93-875E-C8CBBFE817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5AD659-C285-4A47-B570-3C76C3DD69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03523D-87A3-4A2C-B84D-34D74108F286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76638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8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2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9F3A74-0E01-4133-BD99-585C22F5D7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BA81E0-DE00-4FED-A4E7-AA01AC7438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B94BFD-8855-4E42-AA55-164F320759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C5615D-7144-4409-9EBE-0190F941CA75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321292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256A1-8198-4235-96D8-27E0F700BE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D3931E-3A9D-4066-99CE-13C78AD806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34467D-CA14-4E11-9AE3-6967D124BF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FB0CFE-20FE-42FE-9362-BA11AE831229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13131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DD9D397-FA82-41CA-A612-9DBD3900B4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3AD2940-0F59-4854-B571-8E27FBFF0B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659B6D0-A4DD-4776-B223-8BFFC337D7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A39C88-DEAE-468C-9B75-BD73991B8D11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04795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6C97FBB-6ECB-4A00-82FC-4F90BD2214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F3EBCB8-0C85-4A5B-BE69-1B9F34506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2EF7281-A91C-4826-AB36-760E9E042B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5CE9B0-194C-4CF9-9806-364DCAB03E43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78440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CCFA9B5-14E8-4195-99B7-557CF2EBD4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7A8A8B4-0B2A-466B-815E-6971658012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368F693-94EA-4436-BE7C-6FB97BAF16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2ADE98-9A44-40CB-BA62-428EBCF5108F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7104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56A68F-8360-41CB-966D-A37C59A34E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51C4F-DD9F-466A-B72A-4A7CDC1147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7C87D0-05EB-452F-B1AF-355C8E5CAB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30249E-C8E3-4D67-9541-632A3B91F40E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70842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606DF5-2325-469D-AF9A-F6EE14F0FB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DD7A0C-C456-465C-B671-6E8961F3EB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2850D-8D99-4057-A2F2-7D6B89E6C3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F2B6AF-1372-4E24-90E4-AB33868453BF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54383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369EEE-88FB-4077-9997-F89894149F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765067-B445-412D-80E0-26A273044F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261883-F856-43F4-A354-E094399A7B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DBB255-7665-4656-8DC9-57787ECBCB54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641415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7D60DD-069C-4EA3-BC3E-F6906BBE92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1EABAB-EE51-46D5-A980-7164CED55E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0E4857-4C35-4A3A-8480-505D0EC219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62C54-A847-4CAB-B9C4-C120BA79FC7F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732414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6197601" y="1600202"/>
            <a:ext cx="5384800" cy="4525963"/>
          </a:xfrm>
        </p:spPr>
        <p:txBody>
          <a:bodyPr/>
          <a:lstStyle/>
          <a:p>
            <a:pPr lvl="0"/>
            <a:endParaRPr lang="he-IL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8CF129-4B27-441B-B1C2-1FC28F7DAA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C983B0-797E-4FC0-9AAB-C08682BB01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8E135C-DA57-4FB3-AB5E-CF82A1930E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4DDABF-21BA-47C9-880A-BF4377C0DD73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397864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2"/>
            <a:ext cx="10972800" cy="4525963"/>
          </a:xfrm>
        </p:spPr>
        <p:txBody>
          <a:bodyPr/>
          <a:lstStyle/>
          <a:p>
            <a:pPr lvl="0"/>
            <a:endParaRPr lang="he-IL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B0ED33-4D18-45D1-93E5-0616B98419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7A899D-820E-49CD-ABD3-95FDEE21CB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6C747F-4185-4026-A43F-0A8F376CD5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CEEF5A-638C-4DB8-A5E8-370B17E333D2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40952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97819"/>
            <a:ext cx="58293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21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50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55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394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863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788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86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675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195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322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594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4726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660124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09324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98432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1462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508670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21290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55255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76500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06378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1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8667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" y="0"/>
            <a:ext cx="12191999" cy="914400"/>
          </a:xfrm>
          <a:gradFill rotWithShape="1">
            <a:gsLst>
              <a:gs pos="0">
                <a:srgbClr val="00A8D6"/>
              </a:gs>
              <a:gs pos="100000">
                <a:srgbClr val="BEF1FF"/>
              </a:gs>
            </a:gsLst>
            <a:lin ang="5400000" scaled="1"/>
          </a:gradFill>
          <a:ln w="9525" algn="ctr">
            <a:noFill/>
            <a:miter lim="800000"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he-IL" dirty="0"/>
            </a:lvl1pPr>
          </a:lstStyle>
          <a:p>
            <a:pPr lvl="0" eaLnBrk="1" hangingPunct="1"/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FBE0FC0-F747-4EA0-B916-131FCCA865E5}" type="slidenum">
              <a:rPr lang="he-IL">
                <a:solidFill>
                  <a:srgbClr val="0064C8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64C8"/>
              </a:solidFill>
            </a:endParaRPr>
          </a:p>
        </p:txBody>
      </p:sp>
      <p:sp>
        <p:nvSpPr>
          <p:cNvPr id="5" name="מציין מיקום תוכן 4"/>
          <p:cNvSpPr>
            <a:spLocks noGrp="1"/>
          </p:cNvSpPr>
          <p:nvPr>
            <p:ph sz="quarter" idx="11"/>
          </p:nvPr>
        </p:nvSpPr>
        <p:spPr>
          <a:xfrm>
            <a:off x="304799" y="1052737"/>
            <a:ext cx="11457600" cy="50093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125028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כותרת עם תוכן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07434" y="332657"/>
            <a:ext cx="10273142" cy="1224136"/>
          </a:xfrm>
          <a:prstGeom prst="roundRect">
            <a:avLst/>
          </a:prstGeom>
          <a:ln>
            <a:solidFill>
              <a:srgbClr val="007696"/>
            </a:solidFill>
          </a:ln>
        </p:spPr>
        <p:txBody>
          <a:bodyPr/>
          <a:lstStyle>
            <a:lvl1pPr>
              <a:lnSpc>
                <a:spcPct val="136000"/>
              </a:lnSpc>
              <a:defRPr sz="2800" baseline="0">
                <a:latin typeface="Monotype Corsiva" pitchFamily="66" charset="0"/>
                <a:cs typeface="Guttman Yad-Brush" pitchFamily="2" charset="-79"/>
              </a:defRPr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FBE0FC0-F747-4EA0-B916-131FCCA865E5}" type="slidenum">
              <a:rPr lang="he-IL">
                <a:solidFill>
                  <a:srgbClr val="0064C8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64C8"/>
              </a:solidFill>
            </a:endParaRPr>
          </a:p>
        </p:txBody>
      </p:sp>
      <p:sp>
        <p:nvSpPr>
          <p:cNvPr id="5" name="מציין מיקום תוכן 4"/>
          <p:cNvSpPr>
            <a:spLocks noGrp="1"/>
          </p:cNvSpPr>
          <p:nvPr>
            <p:ph sz="quarter" idx="11"/>
          </p:nvPr>
        </p:nvSpPr>
        <p:spPr>
          <a:xfrm>
            <a:off x="1007434" y="1772816"/>
            <a:ext cx="10178091" cy="3528392"/>
          </a:xfrm>
        </p:spPr>
        <p:txBody>
          <a:bodyPr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36313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7CEE94-CFB0-49DD-96F6-D05E56D2A8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C0C36C4-DF39-4AC1-BE96-534B5CCF3A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2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Click to edit Master text styles</a:t>
            </a:r>
          </a:p>
          <a:p>
            <a:pPr lvl="1"/>
            <a:r>
              <a:rPr lang="en-US" altLang="he-IL"/>
              <a:t>Second level</a:t>
            </a:r>
          </a:p>
          <a:p>
            <a:pPr lvl="2"/>
            <a:r>
              <a:rPr lang="en-US" altLang="he-IL"/>
              <a:t>Third level</a:t>
            </a:r>
          </a:p>
          <a:p>
            <a:pPr lvl="3"/>
            <a:r>
              <a:rPr lang="en-US" altLang="he-IL"/>
              <a:t>Fourth level</a:t>
            </a:r>
          </a:p>
          <a:p>
            <a:pPr lvl="4"/>
            <a:r>
              <a:rPr lang="en-US" altLang="he-IL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8CCB6F7-9D9C-4403-8244-ACFD668F86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1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AB3503-4236-4B7C-8337-BE2C407CF4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1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/>
            </a:lvl1pPr>
          </a:lstStyle>
          <a:p>
            <a:pPr>
              <a:defRPr/>
            </a:pPr>
            <a:endParaRPr lang="en-US" altLang="he-IL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1D28D48-A13D-4029-9246-31870785FC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689FB8B4-2377-45A2-9784-0420D85FFF8F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16257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8915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2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6B4EB-034B-489E-91EB-A4214B4A20FF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1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F5A38-5ACF-418E-BDB9-8F40B182845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1867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ctr" defTabSz="914378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r" defTabSz="914378" rtl="1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r" defTabSz="914378" rtl="1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r" defTabSz="914378" rtl="1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r" defTabSz="914378" rtl="1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r" defTabSz="914378" rtl="1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r" defTabSz="914378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r" defTabSz="914378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r" defTabSz="914378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r" defTabSz="914378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r" defTabSz="914378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34467F">
              <a:alpha val="45000"/>
            </a:srgbClr>
          </a:solidFill>
          <a:ln/>
        </p:spPr>
        <p:txBody>
          <a:bodyPr/>
          <a:lstStyle/>
          <a:p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966960" y="4297680"/>
            <a:ext cx="3840480" cy="3840480"/>
          </a:xfrm>
          <a:prstGeom prst="ellipse">
            <a:avLst/>
          </a:prstGeom>
          <a:solidFill>
            <a:srgbClr val="E2664F">
              <a:alpha val="28000"/>
            </a:srgbClr>
          </a:solidFill>
          <a:ln/>
        </p:spPr>
        <p:txBody>
          <a:bodyPr/>
          <a:lstStyle/>
          <a:p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2000" b="1" kern="0" spc="100" dirty="0">
                <a:solidFill>
                  <a:srgbClr val="E2664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שיעור חזרה לבחינה</a:t>
            </a:r>
            <a:endParaRPr lang="he-I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6200"/>
              </a:lnSpc>
              <a:buNone/>
            </a:pPr>
            <a:r>
              <a:rPr lang="he-IL" sz="5400" b="1" dirty="0">
                <a:solidFill>
                  <a:srgbClr val="FFFFF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תקשורת בין אישית</a:t>
            </a:r>
            <a:endParaRPr lang="he-IL" sz="5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r" rtl="1">
              <a:lnSpc>
                <a:spcPts val="6200"/>
              </a:lnSpc>
              <a:buNone/>
            </a:pPr>
            <a:endParaRPr lang="he-IL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3400"/>
              </a:lnSpc>
              <a:buNone/>
            </a:pPr>
            <a:r>
              <a:rPr lang="he-IL" sz="2200" dirty="0">
                <a:solidFill>
                  <a:srgbClr val="C6CEE4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חמישה נושאים, תשעים דקות</a:t>
            </a:r>
            <a:endParaRPr lang="he-IL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3931920" cy="566928"/>
          </a:xfrm>
          <a:prstGeom prst="roundRect">
            <a:avLst>
              <a:gd name="adj" fmla="val 4838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b="1" dirty="0">
                <a:solidFill>
                  <a:srgbClr val="FFFFF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המכללה האקדמית כנרת</a:t>
            </a:r>
            <a:endParaRPr lang="he-IL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D53BE-9813-7E1A-6884-45C59353A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A53BA3EA-7EDB-2531-2A53-B8A7327BB7AB}"/>
              </a:ext>
            </a:extLst>
          </p:cNvPr>
          <p:cNvSpPr/>
          <p:nvPr/>
        </p:nvSpPr>
        <p:spPr>
          <a:xfrm>
            <a:off x="655320" y="21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נראית הבחינה?</a:t>
            </a:r>
            <a:endParaRPr lang="en-US" sz="3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CA8469F-A600-8A6F-0487-A93236AF4F20}"/>
              </a:ext>
            </a:extLst>
          </p:cNvPr>
          <p:cNvSpPr/>
          <p:nvPr/>
        </p:nvSpPr>
        <p:spPr>
          <a:xfrm>
            <a:off x="518160" y="120583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0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מתוך 35 שאלות אמריקאיות</a:t>
            </a:r>
            <a:endParaRPr lang="en-US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46F6116-E44D-92F1-7709-3D7FDEEA0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059" y="0"/>
            <a:ext cx="3425134" cy="6858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8675134-BBAF-F1CE-5D4B-8B583F02FB04}"/>
              </a:ext>
            </a:extLst>
          </p:cNvPr>
          <p:cNvSpPr txBox="1"/>
          <p:nvPr/>
        </p:nvSpPr>
        <p:spPr>
          <a:xfrm>
            <a:off x="6801729" y="1932430"/>
            <a:ext cx="51171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b="1" dirty="0"/>
              <a:t>דנה החליטה לא להתעקש על דעתה בפרויקט כדי לרצות את השותפה שלה ולא לריב. מה הסגנון שלה?</a:t>
            </a:r>
          </a:p>
          <a:p>
            <a:pPr algn="r" rtl="1"/>
            <a:r>
              <a:rPr lang="he-IL" dirty="0"/>
              <a:t>א.	ויתור </a:t>
            </a:r>
          </a:p>
          <a:p>
            <a:pPr algn="r" rtl="1"/>
            <a:r>
              <a:rPr lang="he-IL" dirty="0"/>
              <a:t>ב.	פשרה </a:t>
            </a:r>
          </a:p>
          <a:p>
            <a:pPr algn="r" rtl="1"/>
            <a:r>
              <a:rPr lang="he-IL" dirty="0"/>
              <a:t>ג.	שיתוף פעולה </a:t>
            </a:r>
          </a:p>
          <a:p>
            <a:pPr algn="r" rtl="1"/>
            <a:r>
              <a:rPr lang="he-IL" dirty="0"/>
              <a:t>ד.	הימנעות </a:t>
            </a:r>
          </a:p>
          <a:p>
            <a:pPr algn="r" rtl="1"/>
            <a:endParaRPr lang="he-I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F52890-1C3D-FD58-104F-38716B7A6064}"/>
              </a:ext>
            </a:extLst>
          </p:cNvPr>
          <p:cNvSpPr txBox="1"/>
          <p:nvPr/>
        </p:nvSpPr>
        <p:spPr>
          <a:xfrm>
            <a:off x="3822896" y="4188656"/>
            <a:ext cx="61370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b="1" dirty="0"/>
              <a:t>חברה משתפת בבכי שהיא נכשלה במבחן חשוב. איזו מהתגובות הבאות היא תגובה אמפתית?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א.	"זה באמת נשמע ממש מתסכל. אני כאן איתך." </a:t>
            </a:r>
          </a:p>
          <a:p>
            <a:pPr algn="r" rtl="1"/>
            <a:r>
              <a:rPr lang="he-IL" dirty="0"/>
              <a:t>ב.	"גם לי זה קרה שנה שעברה, זה עובר."</a:t>
            </a:r>
          </a:p>
          <a:p>
            <a:pPr algn="r" rtl="1"/>
            <a:r>
              <a:rPr lang="he-IL" dirty="0"/>
              <a:t>ג.	"לפחות לא נכשלת בכל הקורס, זה </a:t>
            </a:r>
            <a:r>
              <a:rPr lang="he-IL" dirty="0" err="1"/>
              <a:t>יכל</a:t>
            </a:r>
            <a:r>
              <a:rPr lang="he-IL" dirty="0"/>
              <a:t> להיות גרוע יותר!"</a:t>
            </a:r>
          </a:p>
          <a:p>
            <a:pPr algn="r" rtl="1"/>
            <a:r>
              <a:rPr lang="he-IL" dirty="0"/>
              <a:t>ד.	"אל תדאגי, בואי נשב עכשיו ואלמד אותך למועד ב'."</a:t>
            </a:r>
          </a:p>
        </p:txBody>
      </p:sp>
    </p:spTree>
    <p:extLst>
      <p:ext uri="{BB962C8B-B14F-4D97-AF65-F5344CB8AC3E}">
        <p14:creationId xmlns:p14="http://schemas.microsoft.com/office/powerpoint/2010/main" val="2593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/>
      <p:bldP spid="23" grpId="1"/>
      <p:bldP spid="25" grpId="0"/>
      <p:bldP spid="2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הדרכים</a:t>
            </a:r>
            <a:endParaRPr lang="he-IL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מה נעבור היום?</a:t>
            </a:r>
            <a:endParaRPr lang="he-IL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5" name="Shape 3"/>
          <p:cNvSpPr/>
          <p:nvPr/>
        </p:nvSpPr>
        <p:spPr>
          <a:xfrm>
            <a:off x="10991088" y="1892808"/>
            <a:ext cx="493776" cy="493776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6" name="Text 4"/>
          <p:cNvSpPr/>
          <p:nvPr/>
        </p:nvSpPr>
        <p:spPr>
          <a:xfrm>
            <a:off x="10991088" y="18928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852160" y="178308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1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אפקטיבית</a:t>
            </a:r>
            <a:endParaRPr lang="he-IL" sz="210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מודלים, רעש, ערוצים</a:t>
            </a:r>
            <a:endParaRPr lang="he-IL" sz="1600" noProof="0" dirty="0"/>
          </a:p>
        </p:txBody>
      </p:sp>
      <p:sp>
        <p:nvSpPr>
          <p:cNvPr id="9" name="Shape 7"/>
          <p:cNvSpPr/>
          <p:nvPr/>
        </p:nvSpPr>
        <p:spPr>
          <a:xfrm>
            <a:off x="502920" y="2642616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0" name="Shape 8"/>
          <p:cNvSpPr/>
          <p:nvPr/>
        </p:nvSpPr>
        <p:spPr>
          <a:xfrm>
            <a:off x="10991088" y="2752344"/>
            <a:ext cx="493776" cy="493776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1" name="Text 9"/>
          <p:cNvSpPr/>
          <p:nvPr/>
        </p:nvSpPr>
        <p:spPr>
          <a:xfrm>
            <a:off x="10991088" y="27523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5852160" y="264261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1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אמפתיה</a:t>
            </a:r>
            <a:endParaRPr lang="he-IL" sz="21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264261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הקשבה, שיקוף, תיקוף</a:t>
            </a:r>
            <a:endParaRPr lang="he-IL" sz="1600" noProof="0" dirty="0"/>
          </a:p>
        </p:txBody>
      </p:sp>
      <p:sp>
        <p:nvSpPr>
          <p:cNvPr id="14" name="Shape 12"/>
          <p:cNvSpPr/>
          <p:nvPr/>
        </p:nvSpPr>
        <p:spPr>
          <a:xfrm>
            <a:off x="502920" y="3502152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5" name="Shape 13"/>
          <p:cNvSpPr/>
          <p:nvPr/>
        </p:nvSpPr>
        <p:spPr>
          <a:xfrm>
            <a:off x="10991088" y="3611880"/>
            <a:ext cx="493776" cy="493776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6" name="Text 14"/>
          <p:cNvSpPr/>
          <p:nvPr/>
        </p:nvSpPr>
        <p:spPr>
          <a:xfrm>
            <a:off x="10991088" y="3611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5852160" y="350215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1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קונפליקטים ושיחות קשות</a:t>
            </a:r>
            <a:endParaRPr lang="he-IL" sz="210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350215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סגנונות, שלוש השיחות</a:t>
            </a:r>
            <a:endParaRPr lang="he-IL" sz="1600" noProof="0" dirty="0"/>
          </a:p>
        </p:txBody>
      </p:sp>
      <p:sp>
        <p:nvSpPr>
          <p:cNvPr id="19" name="Shape 17"/>
          <p:cNvSpPr/>
          <p:nvPr/>
        </p:nvSpPr>
        <p:spPr>
          <a:xfrm>
            <a:off x="502920" y="4361688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0" name="Shape 18"/>
          <p:cNvSpPr/>
          <p:nvPr/>
        </p:nvSpPr>
        <p:spPr>
          <a:xfrm>
            <a:off x="10991088" y="4471416"/>
            <a:ext cx="493776" cy="493776"/>
          </a:xfrm>
          <a:prstGeom prst="ellipse">
            <a:avLst/>
          </a:prstGeom>
          <a:solidFill>
            <a:srgbClr val="C9973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1" name="Text 19"/>
          <p:cNvSpPr/>
          <p:nvPr/>
        </p:nvSpPr>
        <p:spPr>
          <a:xfrm>
            <a:off x="10991088" y="4471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5852160" y="436168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1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צוות</a:t>
            </a:r>
            <a:endParaRPr lang="he-IL" sz="2100" noProof="0" dirty="0"/>
          </a:p>
        </p:txBody>
      </p:sp>
      <p:sp>
        <p:nvSpPr>
          <p:cNvPr id="23" name="Text 21"/>
          <p:cNvSpPr/>
          <p:nvPr/>
        </p:nvSpPr>
        <p:spPr>
          <a:xfrm>
            <a:off x="822960" y="436168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שלבים, תפקידים, משוב</a:t>
            </a:r>
            <a:endParaRPr lang="he-IL" sz="1600" noProof="0" dirty="0"/>
          </a:p>
        </p:txBody>
      </p:sp>
      <p:sp>
        <p:nvSpPr>
          <p:cNvPr id="24" name="Shape 22"/>
          <p:cNvSpPr/>
          <p:nvPr/>
        </p:nvSpPr>
        <p:spPr>
          <a:xfrm>
            <a:off x="502920" y="5221224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5" name="Shape 23"/>
          <p:cNvSpPr/>
          <p:nvPr/>
        </p:nvSpPr>
        <p:spPr>
          <a:xfrm>
            <a:off x="10991088" y="5330952"/>
            <a:ext cx="493776" cy="493776"/>
          </a:xfrm>
          <a:prstGeom prst="ellipse">
            <a:avLst/>
          </a:prstGeom>
          <a:solidFill>
            <a:srgbClr val="34467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6" name="Text 24"/>
          <p:cNvSpPr/>
          <p:nvPr/>
        </p:nvSpPr>
        <p:spPr>
          <a:xfrm>
            <a:off x="10991088" y="5330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he-IL" sz="2000" noProof="0" dirty="0"/>
          </a:p>
        </p:txBody>
      </p:sp>
      <p:sp>
        <p:nvSpPr>
          <p:cNvPr id="27" name="Text 25"/>
          <p:cNvSpPr/>
          <p:nvPr/>
        </p:nvSpPr>
        <p:spPr>
          <a:xfrm>
            <a:off x="5852160" y="522122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1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שכנוע, רושם ושפת גוף</a:t>
            </a:r>
            <a:endParaRPr lang="he-IL" sz="2100" noProof="0" dirty="0"/>
          </a:p>
        </p:txBody>
      </p:sp>
      <p:sp>
        <p:nvSpPr>
          <p:cNvPr id="28" name="Text 26"/>
          <p:cNvSpPr/>
          <p:nvPr/>
        </p:nvSpPr>
        <p:spPr>
          <a:xfrm>
            <a:off x="822960" y="522122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נתיבים, עקרונות, לא-מילולי</a:t>
            </a:r>
            <a:endParaRPr lang="he-IL" sz="16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120640" cy="5120640"/>
          </a:xfrm>
          <a:prstGeom prst="ellipse">
            <a:avLst/>
          </a:prstGeom>
          <a:solidFill>
            <a:srgbClr val="34467F">
              <a:alpha val="4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חוטים יחזרו בכל חמשת החלקים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טובה היא לא זו שמעבירה את המסר,</a:t>
            </a:r>
            <a:endParaRPr lang="en-US" sz="3400" dirty="0"/>
          </a:p>
          <a:p>
            <a:pPr marL="0" indent="0" algn="r" rtl="1">
              <a:lnSpc>
                <a:spcPts val="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אלא זו שמעבירה את המסר</a:t>
            </a:r>
            <a:endParaRPr lang="en-US" sz="3400" dirty="0"/>
          </a:p>
          <a:p>
            <a:pPr marL="0" indent="0" algn="r" rtl="1">
              <a:lnSpc>
                <a:spcPts val="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משאירה את מערכת היחסים על הרגליים.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263640" y="3977640"/>
            <a:ext cx="521208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537960" y="4160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מודעות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37960" y="4663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600" dirty="0">
                <a:solidFill>
                  <a:srgbClr val="D5D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לעצור ולראות מה קורה — אצלי ואצל האחר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521208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בחירה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0120" y="4663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600" dirty="0">
                <a:solidFill>
                  <a:srgbClr val="D5D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רגע יש צומת. לא ״ככה יצא לי״ ולא ״הוא התחיל״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34467F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38160" y="960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kumimoji="0" lang="en-US" sz="1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חלק ה׳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שכנוע, רושם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1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ושפת גוף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C6CEE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שני נתיבים · צ׳לדיני · התרשמות · לא-מילולי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98348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4983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775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שכנוע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שני נתיבי השכנוע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355080" y="1737360"/>
            <a:ext cx="5330952" cy="2743200"/>
          </a:xfrm>
          <a:prstGeom prst="roundRect">
            <a:avLst>
              <a:gd name="adj" fmla="val 3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2940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F2E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הנתיב המרכזי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29400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קוגניטיבי · איטי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29400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נתונים, השוואות, שיקול דעת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29400" y="3520440"/>
            <a:ext cx="478231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66560" y="352044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נדרשים גם זמן וגם מוטיבציה: </a:t>
            </a: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להחלטות "גדולות"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קניית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דירה, בחירת מקום עבודה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1737360"/>
            <a:ext cx="5330952" cy="2743200"/>
          </a:xfrm>
          <a:prstGeom prst="roundRect">
            <a:avLst>
              <a:gd name="adj" fmla="val 3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הנתיב ההיקפי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מהיר · אינטואיטיבי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מי אמר, איך זה נראה, מי עוד עושה את זה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478231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352044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״החלטות מהבטן״ — וכאן קורה רוב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השכנוע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היומיומי</a:t>
            </a: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וההתרשמות שלנו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4709160"/>
            <a:ext cx="11183112" cy="1234440"/>
          </a:xfrm>
          <a:prstGeom prst="roundRect">
            <a:avLst>
              <a:gd name="adj" fmla="val 8889"/>
            </a:avLst>
          </a:prstGeom>
          <a:solidFill>
            <a:srgbClr val="1F2E5C"/>
          </a:solidFill>
          <a:ln/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ההכשרה המקצועית מלמדת אותנו לעבוד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בנתיב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הראשון</a:t>
            </a:r>
            <a:r>
              <a:rPr kumimoji="0" lang="he-IL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—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1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וחלק גדול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he-IL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השכנוע</a:t>
            </a:r>
            <a:r>
              <a:rPr kumimoji="0" lang="he-IL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וקבלת ההחלטות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קורה בשני.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637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שכנוע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צ׳לדיני · כולם פועלים בנתיב ההיקפי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ששת עקרונות השכנוע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55080" y="1737360"/>
            <a:ext cx="5330952" cy="1143000"/>
          </a:xfrm>
          <a:prstGeom prst="roundRect">
            <a:avLst>
              <a:gd name="adj" fmla="val 72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036808" y="2048256"/>
            <a:ext cx="512064" cy="512064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36808" y="2048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11112" y="18470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הדדיות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11112" y="22677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מתן ערך,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מי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שקיבל ירצה להחזיר. הכי חזק —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לתת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ראשון</a:t>
            </a: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שלא על מנת לקבל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1737360"/>
            <a:ext cx="5330952" cy="1143000"/>
          </a:xfrm>
          <a:prstGeom prst="roundRect">
            <a:avLst>
              <a:gd name="adj" fmla="val 72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84648" y="2048256"/>
            <a:ext cx="512064" cy="512064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84648" y="2048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8952" y="18470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חיבה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8952" y="22677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משתכנעים ממי שאנחנו מחבבים. </a:t>
            </a: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דמיון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ונקודות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משיקות</a:t>
            </a: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פתיחות, חיוביות ונגישות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55080" y="3035808"/>
            <a:ext cx="5330952" cy="1143000"/>
          </a:xfrm>
          <a:prstGeom prst="roundRect">
            <a:avLst>
              <a:gd name="adj" fmla="val 72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036808" y="3346704"/>
            <a:ext cx="512064" cy="512064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036808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11112" y="31455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מומחיות וסמכות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11112" y="3566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אנשים נוטים להשתכנע מסמכות ומומחיות: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ידע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ניסיון, </a:t>
            </a: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לבוש</a:t>
            </a: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אביזרים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ניים דרופינג — ובלבד שזה אמין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3035808"/>
            <a:ext cx="5330952" cy="1143000"/>
          </a:xfrm>
          <a:prstGeom prst="roundRect">
            <a:avLst>
              <a:gd name="adj" fmla="val 72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84648" y="3346704"/>
            <a:ext cx="512064" cy="512064"/>
          </a:xfrm>
          <a:prstGeom prst="ellipse">
            <a:avLst/>
          </a:prstGeom>
          <a:solidFill>
            <a:srgbClr val="C997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84648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8952" y="31455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הסכמה</a:t>
            </a: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(קונצנזוס)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8952" y="3566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הוכחה חברתית: </a:t>
            </a: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כולם או אנשים כמוכם עושים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״80% מאורחי המלון…״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4334256"/>
            <a:ext cx="5330952" cy="1143000"/>
          </a:xfrm>
          <a:prstGeom prst="roundRect">
            <a:avLst>
              <a:gd name="adj" fmla="val 72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1036808" y="4645152"/>
            <a:ext cx="512064" cy="512064"/>
          </a:xfrm>
          <a:prstGeom prst="ellipse">
            <a:avLst/>
          </a:prstGeom>
          <a:solidFill>
            <a:srgbClr val="34467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036808" y="4645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11112" y="44439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עקביות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11112" y="48646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אנשים אוהבים לדעת שהחלטה או הצעה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עקבי</a:t>
            </a: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עם מה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שכבר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חשבו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והתחייבו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אליו</a:t>
            </a: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או עם ערכי הליבה שלהם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2920" y="4334256"/>
            <a:ext cx="5330952" cy="1143000"/>
          </a:xfrm>
          <a:prstGeom prst="roundRect">
            <a:avLst>
              <a:gd name="adj" fmla="val 72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184648" y="4645152"/>
            <a:ext cx="512064" cy="512064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184648" y="4645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58952" y="44439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נדירות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58952" y="48646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הרצון לקבל משהו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מיוחד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מוגבל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עומד להיגמר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FBE9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152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ציון חולשה דווקא מחזק: ״</a:t>
            </a:r>
            <a:r>
              <a:rPr kumimoji="0" lang="he-IL" sz="15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קיווי -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פרי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כל כך מכוער חייב להיות טעים״.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28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רושם והתרשמות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רושם ראשוני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01000" y="173736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38160" y="1965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פחות משנייה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38160" y="2788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נקבע הבסיס לרושם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7315200" cy="1737360"/>
          </a:xfrm>
          <a:prstGeom prst="roundRect">
            <a:avLst>
              <a:gd name="adj" fmla="val 4737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1F2E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די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F2E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srgbClr val="1F2E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נכון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F2E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— אך לא מדויק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450592"/>
            <a:ext cx="681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האינטואיציה החברתית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שלנו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סבירה</a:t>
            </a:r>
            <a:endParaRPr kumimoji="0" lang="he-IL" sz="1500" b="0" i="0" u="none" strike="noStrike" kern="1200" cap="none" spc="0" normalizeH="0" baseline="0" noProof="0" dirty="0">
              <a:ln>
                <a:noFill/>
              </a:ln>
              <a:solidFill>
                <a:srgbClr val="3A4358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r" defTabSz="914400" rtl="1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ניסוי עם תמונות של פוליטיקאים, נאשמים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ממה אנחנו מתרשמים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052560" y="4114800"/>
            <a:ext cx="2633472" cy="1783080"/>
          </a:xfrm>
          <a:prstGeom prst="roundRect">
            <a:avLst>
              <a:gd name="adj" fmla="val 4615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17152" y="4233672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8B8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מראה ולבוש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217152" y="484632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נאים מרוויחים יותר, מתקבלים יותר לעבודה ומקבלים עונשים קלים יותר. גם גובה משפיע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99632" y="4114800"/>
            <a:ext cx="2633472" cy="1783080"/>
          </a:xfrm>
          <a:prstGeom prst="roundRect">
            <a:avLst>
              <a:gd name="adj" fmla="val 4615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64224" y="4233672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2E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תווי פנים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64224" y="484632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ילדותיים — חמים, נגישים, ״טיפוליים״.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1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חזקים — סמכותיים, מסוגלים, ניהוליים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346704" y="4114800"/>
            <a:ext cx="2633472" cy="1783080"/>
          </a:xfrm>
          <a:prstGeom prst="roundRect">
            <a:avLst>
              <a:gd name="adj" fmla="val 4615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11296" y="4233672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9973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אנרגיה והתנהגות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511296" y="484632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מאירי פנים, סקרנים ופעילים — עד גבול שאחריו זה תזזיתי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4114800"/>
            <a:ext cx="2633472" cy="1783080"/>
          </a:xfrm>
          <a:prstGeom prst="roundRect">
            <a:avLst>
              <a:gd name="adj" fmla="val 4615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7512" y="4233672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סיטואציה ומידע מיד שנייה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7512" y="4846320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איפה ראינו אותו — ומה אמרו עליו לפני שפגשנו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" y="601675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E8B8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והנקודה המשחררת: מראה מסודר ומטופח מספיק כדי לזכות ברוב היתרון — וזה בהישג ידו של כל אחד.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11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רושם והתרשמות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שלוש הטיות בהתרשמות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01000" y="178308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2E8B8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אפקט ההילה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0" y="24505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תכונה חיובית אחת גוררת הנחה שיש עוד תכונות חיוביות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0" y="3474720"/>
            <a:ext cx="322783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48472" y="34747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״הוא חכם, אז הוא בטח גם חרוץ״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8056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אפקט הקרניים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80560" y="24505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התמונה ההפוכה: תכונה שלילית אחת צובעת את כל השאר לרעה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80560" y="3474720"/>
            <a:ext cx="322783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99432" y="34747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״איחר פעם אחת — הוא לא רציני״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178308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C9973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אפקט הראשוניות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24505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הדבר הראשון שראינו צובע את כל מה שיבוא אחריו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1520" y="3474720"/>
            <a:ext cx="322783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0392" y="34747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המנהל שהביא עוגה — ונסלח לו על הכעס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" y="4800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2E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8680" y="49194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אפקט ההילה והקרניים הם מקרה פרטי של תיאוריית האישיות הסמויה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8680" y="53949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6CEE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התיאוריה הפרטית שיש לכל אחד מאיתנו על אילו תכונות ״באות בחבילה״ 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srgbClr val="C6CEE4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6CEE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איך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6CEE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מתקנים: לראות את האדם ביותר מסיטואציה אחת, ולשאול במקום להניח.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039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רושם והתרשמות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ארווינג גופמן · החיים כתיאטרון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ניהול רושם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55080" y="1737360"/>
            <a:ext cx="5330952" cy="1188720"/>
          </a:xfrm>
          <a:prstGeom prst="roundRect">
            <a:avLst>
              <a:gd name="adj" fmla="val 6923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29400" y="18470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אחורי הקלעים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294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שם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ה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אדם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עושה מה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שהוא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רוצה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(אוטנטי)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5330952" cy="1188720"/>
          </a:xfrm>
          <a:prstGeom prst="roundRect">
            <a:avLst>
              <a:gd name="adj" fmla="val 6923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8470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F2E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קדמת הבמה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שם הוא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מגלם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תפקיד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(מיד כשאדם יוצא ל"שטח ציבורי"- יציאה מהמעלית)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11183112" cy="1325880"/>
          </a:xfrm>
          <a:prstGeom prst="roundRect">
            <a:avLst>
              <a:gd name="adj" fmla="val 8276"/>
            </a:avLst>
          </a:prstGeom>
          <a:solidFill>
            <a:srgbClr val="EAF2F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E8B8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ניהול רושם אינו להציג את עצמנו כמישהו אחר — אלא להיות אנחנו, בגרסה הטובה ביותר.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36758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והוא אינו תמיד מודע ומכוון — הרבה מזה קורה מעצמו, בלי שנשים לב.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46177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ולמה לא להעמיד פנים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09095" y="5212080"/>
            <a:ext cx="3976937" cy="1051560"/>
          </a:xfrm>
          <a:prstGeom prst="roundRect">
            <a:avLst>
              <a:gd name="adj" fmla="val 7826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20111" y="5212080"/>
            <a:ext cx="353732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זה לא עובד — מי שאנחנו תמיד דולף החוצה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0" y="5212080"/>
            <a:ext cx="3906598" cy="1051560"/>
          </a:xfrm>
          <a:prstGeom prst="roundRect">
            <a:avLst>
              <a:gd name="adj" fmla="val 7826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45058" y="5212080"/>
            <a:ext cx="33333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זה גוזל אנרגיה עצומה — בעיקר כשזה אינו תואם את מי שאנחנו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26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שפת גוף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כל מה שעובר בלי מילים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תקשורת לא-מילולית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183112" cy="777240"/>
          </a:xfrm>
          <a:prstGeom prst="roundRect">
            <a:avLst>
              <a:gd name="adj" fmla="val 14118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הבעות פנים · תנועות גוף · יציבה · מרחק · מגע · טון קול · קצב דיבור · לבוש · אביזרים · ואפילו עיצוב החדר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55080" y="2606040"/>
            <a:ext cx="5330952" cy="2468880"/>
          </a:xfrm>
          <a:prstGeom prst="roundRect">
            <a:avLst>
              <a:gd name="adj" fmla="val 3333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29400" y="27249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8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שפת גוף פתוחה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320272" y="3364992"/>
            <a:ext cx="118872" cy="118872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29400" y="3246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תופסת מקום ונפח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320272" y="3712464"/>
            <a:ext cx="118872" cy="118872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29400" y="3593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תנועות גדולות ורחבות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320272" y="4059936"/>
            <a:ext cx="118872" cy="118872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9400" y="39410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ידיים פתוחות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320272" y="4407408"/>
            <a:ext cx="118872" cy="118872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29400" y="42885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תנועתיות ורכינה קדימה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320272" y="4754880"/>
            <a:ext cx="118872" cy="118872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29400" y="46360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פנים מחייכות וקשר עין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" y="2606040"/>
            <a:ext cx="5330952" cy="2468880"/>
          </a:xfrm>
          <a:prstGeom prst="roundRect">
            <a:avLst>
              <a:gd name="adj" fmla="val 3333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" y="27249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שפת גוף סגורה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68112" y="3364992"/>
            <a:ext cx="118872" cy="118872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" y="3246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מכווצת, תופסת מעט מקום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68112" y="3712464"/>
            <a:ext cx="118872" cy="118872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3593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ידיים משולבות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68112" y="4059936"/>
            <a:ext cx="118872" cy="118872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" y="39410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ישיבה נוקשה, מעט תנועה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68112" y="4407408"/>
            <a:ext cx="118872" cy="118872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7240" y="42885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משדרת ״אני מגן על עצמי״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68112" y="4754880"/>
            <a:ext cx="118872" cy="118872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77240" y="46360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לפעמים ״יש לי מה להסתיר״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2920" y="5212080"/>
            <a:ext cx="11183112" cy="1143000"/>
          </a:xfrm>
          <a:prstGeom prst="roundRect">
            <a:avLst>
              <a:gd name="adj" fmla="val 9600"/>
            </a:avLst>
          </a:prstGeom>
          <a:solidFill>
            <a:srgbClr val="1F2E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68680" y="53035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ולמה דווקא ידיים פתוחות?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המקור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אבולוציוני.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68680" y="572414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6CEE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הידיים פתוחות, אין לי נשק, אני חושף את הלב — באתי בשלום.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34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שפת גוף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תנועות ידיים — חמישה סוגים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73768" y="2518117"/>
            <a:ext cx="2084832" cy="2697480"/>
          </a:xfrm>
          <a:prstGeom prst="roundRect">
            <a:avLst>
              <a:gd name="adj" fmla="val 3947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83496" y="2655277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סמלים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83496" y="3066757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Emblems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83496" y="3432517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מחליפים מילים · תלויי תרבות לחלוטין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83496" y="4438357"/>
            <a:ext cx="1865376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38360" y="4438357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לייק · ״הכול בסדר״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06056" y="2518117"/>
            <a:ext cx="2084832" cy="2697480"/>
          </a:xfrm>
          <a:prstGeom prst="roundRect">
            <a:avLst>
              <a:gd name="adj" fmla="val 3947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15784" y="2655277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8B8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מדגימים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15784" y="3066757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Illustrators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15784" y="3432517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מלווים ומאיירים מילים · אוניברסליים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15784" y="4438357"/>
            <a:ext cx="1865376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70648" y="4438357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״היינו גבוה למעלה״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38344" y="2518117"/>
            <a:ext cx="2084832" cy="2697480"/>
          </a:xfrm>
          <a:prstGeom prst="roundRect">
            <a:avLst>
              <a:gd name="adj" fmla="val 3947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48072" y="2655277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E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מווסתים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48072" y="3066757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Regulators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48072" y="3432517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מנהלים ומסדירים את השיחה עצמה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48072" y="4438357"/>
            <a:ext cx="1865376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02936" y="4438357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״רגע״ · ״תורך״ · ״המשך״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70632" y="2518117"/>
            <a:ext cx="2084832" cy="2697480"/>
          </a:xfrm>
          <a:prstGeom prst="roundRect">
            <a:avLst>
              <a:gd name="adj" fmla="val 3947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880360" y="2655277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9973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מביעי רגש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880360" y="3066757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Affect Displays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880360" y="3432517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מבטאים רגש ואת עוצמתו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880360" y="4438357"/>
            <a:ext cx="1865376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935224" y="4438357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יד על הפה בבשורה קשה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20" y="2518117"/>
            <a:ext cx="2084832" cy="2697480"/>
          </a:xfrm>
          <a:prstGeom prst="roundRect">
            <a:avLst>
              <a:gd name="adj" fmla="val 3947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2648" y="2655277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4467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מסגלים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2648" y="3066757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Adaptors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2648" y="3432517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לא מכוונות — מווסתות מתח אצלנו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2648" y="4438357"/>
            <a:ext cx="1865376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7512" y="4438357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גירוד בראש · שיחוק בעט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8762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680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שפת גוף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יציבה, חיוך ונוכחות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355080" y="1737360"/>
            <a:ext cx="5330952" cy="2194560"/>
          </a:xfrm>
          <a:prstGeom prst="roundRect">
            <a:avLst>
              <a:gd name="adj" fmla="val 3750"/>
            </a:avLst>
          </a:prstGeom>
          <a:solidFill>
            <a:srgbClr val="FBE9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2940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יציבת כוח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29400" y="2377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5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הניסוי של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קאדי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וקרני. שתי דקות של יציבה פתוחה ותופסת מקום לפני אירוע מלחיץ משפיעות בשני הכיוונים: על האופן שבו אחרים תופסים אותנו — וגם על התחושה שלנו עצמנו.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29400" y="3493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Fake it till you become it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5330952" cy="2194560"/>
          </a:xfrm>
          <a:prstGeom prst="roundRect">
            <a:avLst>
              <a:gd name="adj" fmla="val 3750"/>
            </a:avLst>
          </a:prstGeom>
          <a:solidFill>
            <a:srgbClr val="EAF2F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2E8B8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משוב הפנים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החיוך לא רק משדר החוצה — הוא גם מדווח פנימה למוח ומגביר את השמחה.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1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חיוך דושן: כל הפנים משתתפות, קמטים ליד העיניים.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1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חיוך פאן-אמריקן: מהאף ומטה, מזוהה מיד כלא אמיתי.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01000" y="411480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0" y="4233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266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לחיצת יד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0" y="46360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יד מעל = שליטה וכוח · מתחת = כניעה · מאוזנת = שוויון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51960" y="411480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80560" y="4233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E5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רגשות בסיסיים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80560" y="46360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שמחה, כעס, עצב, פחד, הפתעה, גועל — מולדים וחוצי תרבויות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4233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9973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רגשות מורכבים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6360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A43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אכזבה, בושה, גאווה — נלמדים, תלויי תרבות, קשים בהרבה לזיהוי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5669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41C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נוכחות: להביא לשולחן את הרעיונות שלכם — בטון שאיננו מתנצל ואיננו מסתיים בסימן שאלה.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21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8575"/>
            <a:ext cx="12192000" cy="68294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A229B9-F066-CB99-F48A-E7D74757F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073" y="457200"/>
            <a:ext cx="4136027" cy="971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037FC9-D905-D611-F903-604B4028854B}"/>
              </a:ext>
            </a:extLst>
          </p:cNvPr>
          <p:cNvSpPr txBox="1"/>
          <p:nvPr/>
        </p:nvSpPr>
        <p:spPr>
          <a:xfrm>
            <a:off x="7981950" y="457200"/>
            <a:ext cx="32575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ebo" pitchFamily="2" charset="-79"/>
                <a:ea typeface="+mn-ea"/>
                <a:cs typeface="Heebo" pitchFamily="2" charset="-79"/>
              </a:rPr>
              <a:t>יציבת כוח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6A3301-5A66-6E84-FFDB-3A63BFFFFC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3340" t="39636" r="-317120" b="-72547"/>
          <a:stretch>
            <a:fillRect/>
          </a:stretch>
        </p:blipFill>
        <p:spPr>
          <a:xfrm>
            <a:off x="4795838" y="1468041"/>
            <a:ext cx="2600325" cy="3389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20CA46-0104-BCFC-EA73-3C3E171C5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323" y="2686050"/>
            <a:ext cx="1539355" cy="232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29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8575"/>
            <a:ext cx="12192000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96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D7187-2F6C-6CB3-2418-DD67C693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שאלת חזרה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D92CF-8D5D-5AA5-B04A-8A84AEE84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he-IL" dirty="0"/>
              <a:t>חברה משתפת בבכי שהיא נכשלה במבחן חשוב. איזו מהתגובות הבאות היא תגובה אמפתית?</a:t>
            </a:r>
          </a:p>
          <a:p>
            <a:pPr marL="0" indent="0" algn="r" rtl="1">
              <a:buNone/>
            </a:pPr>
            <a:r>
              <a:rPr lang="he-IL" dirty="0"/>
              <a:t>א."גם לי זה קרה שנה שעברה, זה עובר."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he-IL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ב."זה באמת נשמע ממש מתסכל. אני כאן איתך." </a:t>
            </a:r>
            <a:endParaRPr lang="he-IL" dirty="0"/>
          </a:p>
          <a:p>
            <a:pPr marL="0" indent="0" algn="r" rtl="1">
              <a:buNone/>
            </a:pPr>
            <a:r>
              <a:rPr lang="he-IL" dirty="0"/>
              <a:t>ג."לפחות לא נכשלת בכל הקורס, זה יכל להיות גרוע יותר!"</a:t>
            </a:r>
          </a:p>
          <a:p>
            <a:pPr marL="0" indent="0" algn="r" rtl="1">
              <a:buNone/>
            </a:pPr>
            <a:r>
              <a:rPr lang="he-IL" dirty="0"/>
              <a:t>ד."אל תדאגי, בואי נשב עכשיו ואלמד אותך למועד ב'."</a:t>
            </a:r>
          </a:p>
          <a:p>
            <a:pPr algn="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19044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34467F">
              <a:alpha val="40000"/>
            </a:srgbClr>
          </a:solidFill>
          <a:ln/>
        </p:spPr>
        <p:txBody>
          <a:bodyPr/>
          <a:lstStyle/>
          <a:p>
            <a:endParaRPr lang="he-IL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38160" y="960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0" b="1" dirty="0">
                <a:solidFill>
                  <a:srgbClr val="E2664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1</a:t>
            </a:r>
            <a:endParaRPr lang="en-US" sz="1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E2664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חלק א׳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תקשורת אפקטיבית</a:t>
            </a:r>
            <a:endParaRPr lang="en-US" sz="4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1900" dirty="0">
                <a:solidFill>
                  <a:srgbClr val="C6CEE4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מודלים · רעש · רבדים · ערוצים</a:t>
            </a:r>
            <a:endParaRPr 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98348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he-IL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אפקטיבית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36676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תנאים — ושניהם חייבים להתקיים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355080" y="2208276"/>
            <a:ext cx="5330952" cy="1828800"/>
          </a:xfrm>
          <a:prstGeom prst="roundRect">
            <a:avLst>
              <a:gd name="adj" fmla="val 45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0972800" y="2464308"/>
            <a:ext cx="457200" cy="457200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629400" y="243687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המסר עבר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629400" y="307695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כפי שהתכוונו להעביר אותו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2208276"/>
            <a:ext cx="5330952" cy="1828800"/>
          </a:xfrm>
          <a:prstGeom prst="roundRect">
            <a:avLst>
              <a:gd name="adj" fmla="val 45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5120640" y="2464308"/>
            <a:ext cx="457200" cy="45720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777240" y="243687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היחסים נשמרו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77240" y="307695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הצד השני רוצה להמשיך לתקשר איתנו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אפקטיביות היא האיזון בין השניים — לא אחד מהם.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78B0483-0E31-4E9F-8AA5-F878C5C93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7530" y="133804"/>
            <a:ext cx="5192820" cy="112806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he-IL" altLang="he-IL" sz="3500" dirty="0"/>
              <a:t>מושגים מרכזיים בתקשורת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CD5D61D-2E21-4061-BDF2-5FB8D3900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9675" y="1513936"/>
            <a:ext cx="5654975" cy="3830128"/>
          </a:xfrm>
        </p:spPr>
        <p:txBody>
          <a:bodyPr anchor="ctr">
            <a:normAutofit fontScale="47500" lnSpcReduction="20000"/>
          </a:bodyPr>
          <a:lstStyle/>
          <a:p>
            <a:pPr marL="0" indent="0" algn="r" rtl="1" eaLnBrk="1" hangingPunct="1">
              <a:lnSpc>
                <a:spcPct val="120000"/>
              </a:lnSpc>
              <a:buNone/>
            </a:pPr>
            <a:r>
              <a:rPr lang="he-IL" altLang="he-IL" sz="4400" b="1" dirty="0"/>
              <a:t>מקור: היוצר והשולח של המסר</a:t>
            </a:r>
          </a:p>
          <a:p>
            <a:pPr marL="0" indent="0" algn="r" rtl="1" eaLnBrk="1" hangingPunct="1">
              <a:lnSpc>
                <a:spcPct val="120000"/>
              </a:lnSpc>
              <a:buNone/>
            </a:pPr>
            <a:r>
              <a:rPr lang="he-IL" altLang="he-IL" sz="4400" b="1" dirty="0"/>
              <a:t>מקבל: קולט ומקבל את המסר</a:t>
            </a:r>
          </a:p>
          <a:p>
            <a:pPr marL="0" indent="0" algn="r" rtl="1" eaLnBrk="1" hangingPunct="1">
              <a:lnSpc>
                <a:spcPct val="120000"/>
              </a:lnSpc>
              <a:buNone/>
            </a:pPr>
            <a:r>
              <a:rPr lang="he-IL" altLang="he-IL" sz="4400" dirty="0"/>
              <a:t>כל אחד משמש כ</a:t>
            </a:r>
            <a:r>
              <a:rPr lang="he-IL" altLang="he-IL" sz="4400" b="1" dirty="0"/>
              <a:t>מקור</a:t>
            </a:r>
            <a:r>
              <a:rPr lang="he-IL" altLang="he-IL" sz="4400" dirty="0"/>
              <a:t> </a:t>
            </a:r>
            <a:r>
              <a:rPr lang="he-IL" altLang="he-IL" sz="4400" b="1" dirty="0"/>
              <a:t>ומקבל</a:t>
            </a:r>
          </a:p>
          <a:p>
            <a:pPr algn="r" defTabSz="914378" rtl="1" eaLnBrk="1" hangingPunct="1">
              <a:lnSpc>
                <a:spcPct val="120000"/>
              </a:lnSpc>
              <a:buNone/>
              <a:defRPr/>
            </a:pPr>
            <a:r>
              <a:rPr lang="he-IL" altLang="he-IL" sz="4400" b="1" dirty="0">
                <a:solidFill>
                  <a:srgbClr val="000000"/>
                </a:solidFill>
                <a:latin typeface="Arial"/>
                <a:cs typeface="Arial"/>
              </a:rPr>
              <a:t>מסרים: </a:t>
            </a:r>
            <a:r>
              <a:rPr lang="he-IL" altLang="he-IL" sz="4400" dirty="0">
                <a:solidFill>
                  <a:srgbClr val="000000"/>
                </a:solidFill>
                <a:latin typeface="Arial"/>
                <a:cs typeface="Arial"/>
              </a:rPr>
              <a:t>אותות מכוונים או לא מכוונים </a:t>
            </a:r>
          </a:p>
          <a:p>
            <a:pPr algn="r" defTabSz="914378" rtl="1" eaLnBrk="1" hangingPunct="1">
              <a:lnSpc>
                <a:spcPct val="120000"/>
              </a:lnSpc>
              <a:buNone/>
              <a:defRPr/>
            </a:pPr>
            <a:r>
              <a:rPr lang="he-IL" altLang="he-IL" sz="4400" dirty="0">
                <a:solidFill>
                  <a:srgbClr val="000000"/>
                </a:solidFill>
                <a:latin typeface="Arial"/>
                <a:cs typeface="Arial"/>
              </a:rPr>
              <a:t>העוברים בין המקור  והמקבל באופן מילולי ולא מילולי.</a:t>
            </a:r>
          </a:p>
          <a:p>
            <a:pPr marL="0" indent="0" algn="r" defTabSz="914378" rtl="1">
              <a:lnSpc>
                <a:spcPct val="120000"/>
              </a:lnSpc>
              <a:buNone/>
              <a:defRPr/>
            </a:pPr>
            <a:r>
              <a:rPr lang="he-IL" altLang="he-IL" sz="4400" b="1" dirty="0">
                <a:solidFill>
                  <a:srgbClr val="000000"/>
                </a:solidFill>
                <a:latin typeface="Arial"/>
                <a:cs typeface="Arial"/>
              </a:rPr>
              <a:t>הצפנה: </a:t>
            </a:r>
            <a:r>
              <a:rPr lang="he-IL" altLang="he-IL" sz="4400" dirty="0">
                <a:solidFill>
                  <a:srgbClr val="000000"/>
                </a:solidFill>
                <a:latin typeface="Arial"/>
                <a:cs typeface="Arial"/>
              </a:rPr>
              <a:t>תהליך יצירת המסר</a:t>
            </a:r>
          </a:p>
          <a:p>
            <a:pPr marL="0" indent="0" algn="r" defTabSz="914378" rtl="1">
              <a:lnSpc>
                <a:spcPct val="120000"/>
              </a:lnSpc>
              <a:buNone/>
              <a:defRPr/>
            </a:pPr>
            <a:r>
              <a:rPr lang="he-IL" altLang="he-IL" sz="4400" b="1" dirty="0">
                <a:solidFill>
                  <a:srgbClr val="000000"/>
                </a:solidFill>
                <a:latin typeface="Arial"/>
                <a:cs typeface="Arial"/>
              </a:rPr>
              <a:t>פענוח: </a:t>
            </a:r>
            <a:r>
              <a:rPr lang="he-IL" altLang="he-IL" sz="4400" dirty="0">
                <a:solidFill>
                  <a:srgbClr val="000000"/>
                </a:solidFill>
                <a:latin typeface="Arial"/>
                <a:cs typeface="Arial"/>
              </a:rPr>
              <a:t>קליטת המסר </a:t>
            </a:r>
          </a:p>
          <a:p>
            <a:pPr marL="0" indent="0" algn="r" defTabSz="914378" rtl="1" eaLnBrk="1" hangingPunct="1">
              <a:lnSpc>
                <a:spcPct val="120000"/>
              </a:lnSpc>
              <a:buNone/>
              <a:defRPr/>
            </a:pPr>
            <a:r>
              <a:rPr lang="he-IL" altLang="he-IL" sz="4400" b="1" dirty="0">
                <a:solidFill>
                  <a:srgbClr val="000000"/>
                </a:solidFill>
                <a:latin typeface="Arial"/>
                <a:cs typeface="Arial"/>
              </a:rPr>
              <a:t>ערוץ- </a:t>
            </a:r>
            <a:r>
              <a:rPr lang="he-IL" altLang="he-IL" sz="4400" dirty="0">
                <a:solidFill>
                  <a:srgbClr val="000000"/>
                </a:solidFill>
                <a:latin typeface="Arial"/>
                <a:cs typeface="Arial"/>
              </a:rPr>
              <a:t>האופן בו מעבירים את המסר</a:t>
            </a:r>
            <a:endParaRPr lang="he-IL" altLang="he-IL" sz="4400" dirty="0"/>
          </a:p>
          <a:p>
            <a:pPr rtl="1" eaLnBrk="1" hangingPunct="1"/>
            <a:endParaRPr lang="en-US" altLang="he-IL" sz="17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D84928-9EAF-4981-88D8-CC2B3B5C68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13" r="28337" b="1"/>
          <a:stretch/>
        </p:blipFill>
        <p:spPr>
          <a:xfrm>
            <a:off x="7124700" y="799352"/>
            <a:ext cx="4069057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200" b="1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אפקטיבית</a:t>
            </a:r>
            <a:endParaRPr lang="he-IL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מודל מתקן את קודמו</a:t>
            </a:r>
            <a:endParaRPr lang="he-IL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שלושת מודלי התקשורת</a:t>
            </a:r>
            <a:endParaRPr lang="he-IL" sz="3600" noProof="0" dirty="0"/>
          </a:p>
        </p:txBody>
      </p:sp>
      <p:sp>
        <p:nvSpPr>
          <p:cNvPr id="6" name="Shape 4"/>
          <p:cNvSpPr/>
          <p:nvPr/>
        </p:nvSpPr>
        <p:spPr>
          <a:xfrm>
            <a:off x="8001000" y="1828800"/>
            <a:ext cx="3657600" cy="3017520"/>
          </a:xfrm>
          <a:prstGeom prst="roundRect">
            <a:avLst>
              <a:gd name="adj" fmla="val 272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7" name="Shape 5"/>
          <p:cNvSpPr/>
          <p:nvPr/>
        </p:nvSpPr>
        <p:spPr>
          <a:xfrm>
            <a:off x="11036808" y="2029968"/>
            <a:ext cx="457200" cy="457200"/>
          </a:xfrm>
          <a:prstGeom prst="ellipse">
            <a:avLst/>
          </a:prstGeom>
          <a:solidFill>
            <a:srgbClr val="76809A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8" name="Text 6"/>
          <p:cNvSpPr/>
          <p:nvPr/>
        </p:nvSpPr>
        <p:spPr>
          <a:xfrm>
            <a:off x="1103680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endParaRPr lang="he-IL" sz="17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0" y="2011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0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הפעולה</a:t>
            </a:r>
            <a:endParaRPr lang="he-IL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0" y="2542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b="1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באולינג</a:t>
            </a:r>
            <a:endParaRPr lang="he-IL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he-IL" sz="17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חד-כיווני</a:t>
            </a:r>
          </a:p>
          <a:p>
            <a:pPr algn="r" rtl="1">
              <a:lnSpc>
                <a:spcPts val="2700"/>
              </a:lnSpc>
            </a:pPr>
            <a:r>
              <a:rPr lang="he-IL" sz="17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 · מסר · ערוץ · רעש  · קולט</a:t>
            </a:r>
            <a:endParaRPr lang="he-IL" sz="1700" noProof="0" dirty="0"/>
          </a:p>
        </p:txBody>
      </p:sp>
      <p:sp>
        <p:nvSpPr>
          <p:cNvPr id="12" name="Shape 10"/>
          <p:cNvSpPr/>
          <p:nvPr/>
        </p:nvSpPr>
        <p:spPr>
          <a:xfrm>
            <a:off x="4251960" y="1828800"/>
            <a:ext cx="3657600" cy="3017520"/>
          </a:xfrm>
          <a:prstGeom prst="roundRect">
            <a:avLst>
              <a:gd name="adj" fmla="val 272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3" name="Shape 11"/>
          <p:cNvSpPr/>
          <p:nvPr/>
        </p:nvSpPr>
        <p:spPr>
          <a:xfrm>
            <a:off x="7287768" y="2029968"/>
            <a:ext cx="457200" cy="45720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4" name="Text 12"/>
          <p:cNvSpPr/>
          <p:nvPr/>
        </p:nvSpPr>
        <p:spPr>
          <a:xfrm>
            <a:off x="728776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endParaRPr lang="he-IL" sz="1700" noProof="0" dirty="0"/>
          </a:p>
        </p:txBody>
      </p:sp>
      <p:sp>
        <p:nvSpPr>
          <p:cNvPr id="15" name="Text 13"/>
          <p:cNvSpPr/>
          <p:nvPr/>
        </p:nvSpPr>
        <p:spPr>
          <a:xfrm>
            <a:off x="4480560" y="2011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0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האינטראקציה</a:t>
            </a:r>
            <a:endParaRPr lang="he-IL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4480560" y="2542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b="1" noProof="0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טניס</a:t>
            </a:r>
            <a:endParaRPr lang="he-IL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448056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he-IL" sz="1700" b="1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הוסיף:    </a:t>
            </a:r>
            <a:r>
              <a:rPr lang="he-IL" sz="17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משוב · הקשר</a:t>
            </a:r>
            <a:endParaRPr lang="he-IL" sz="1700" noProof="0" dirty="0"/>
          </a:p>
        </p:txBody>
      </p:sp>
      <p:sp>
        <p:nvSpPr>
          <p:cNvPr id="18" name="Shape 16"/>
          <p:cNvSpPr/>
          <p:nvPr/>
        </p:nvSpPr>
        <p:spPr>
          <a:xfrm>
            <a:off x="502920" y="1828800"/>
            <a:ext cx="3657600" cy="3017520"/>
          </a:xfrm>
          <a:prstGeom prst="roundRect">
            <a:avLst>
              <a:gd name="adj" fmla="val 272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9" name="Shape 17"/>
          <p:cNvSpPr/>
          <p:nvPr/>
        </p:nvSpPr>
        <p:spPr>
          <a:xfrm>
            <a:off x="3538728" y="2029968"/>
            <a:ext cx="457200" cy="457200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0" name="Text 18"/>
          <p:cNvSpPr/>
          <p:nvPr/>
        </p:nvSpPr>
        <p:spPr>
          <a:xfrm>
            <a:off x="353872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endParaRPr lang="he-IL" sz="1700" noProof="0" dirty="0"/>
          </a:p>
        </p:txBody>
      </p:sp>
      <p:sp>
        <p:nvSpPr>
          <p:cNvPr id="21" name="Text 19"/>
          <p:cNvSpPr/>
          <p:nvPr/>
        </p:nvSpPr>
        <p:spPr>
          <a:xfrm>
            <a:off x="731520" y="2011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0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</a:t>
            </a:r>
            <a:r>
              <a:rPr lang="he-IL" sz="2000" b="1" noProof="0" dirty="0" err="1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הטרנזקציוני</a:t>
            </a:r>
            <a:endParaRPr lang="he-IL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731520" y="2542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החלפה בו-זמנית</a:t>
            </a:r>
            <a:endParaRPr lang="he-IL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73152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he-IL" sz="1700" b="1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הוסיף:   </a:t>
            </a:r>
            <a:r>
              <a:rPr lang="he-IL" sz="17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הדדיות · בו-זמניות</a:t>
            </a:r>
            <a:endParaRPr lang="he-IL" sz="1700" noProof="0" dirty="0"/>
          </a:p>
        </p:txBody>
      </p:sp>
      <p:sp>
        <p:nvSpPr>
          <p:cNvPr id="24" name="Shape 22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5" name="Text 23"/>
          <p:cNvSpPr/>
          <p:nvPr/>
        </p:nvSpPr>
        <p:spPr>
          <a:xfrm>
            <a:off x="73152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ההבדל בין המודלים = מה כל אחד הוסיף.</a:t>
            </a:r>
            <a:endParaRPr lang="he-IL" sz="15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200" b="1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אפקטיבית</a:t>
            </a:r>
            <a:endParaRPr lang="he-IL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הכדור לא פוגע</a:t>
            </a:r>
            <a:endParaRPr lang="he-IL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סוגי רעש</a:t>
            </a:r>
            <a:endParaRPr lang="he-IL" sz="3600" noProof="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330952" cy="1737360"/>
          </a:xfrm>
          <a:prstGeom prst="roundRect">
            <a:avLst>
              <a:gd name="adj" fmla="val 473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7" name="Shape 5"/>
          <p:cNvSpPr/>
          <p:nvPr/>
        </p:nvSpPr>
        <p:spPr>
          <a:xfrm>
            <a:off x="11000232" y="2002536"/>
            <a:ext cx="420624" cy="420624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8" name="Text 6"/>
          <p:cNvSpPr/>
          <p:nvPr/>
        </p:nvSpPr>
        <p:spPr>
          <a:xfrm>
            <a:off x="6611112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2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פיזי</a:t>
            </a:r>
            <a:endParaRPr lang="he-IL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6611112" y="24414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b="1" noProof="0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בסביבה</a:t>
            </a:r>
            <a:endParaRPr lang="he-IL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611112" y="28254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רחוב סואן · אינטרנט מקרטע</a:t>
            </a:r>
            <a:endParaRPr lang="he-IL" sz="1500" noProof="0" dirty="0"/>
          </a:p>
        </p:txBody>
      </p:sp>
      <p:sp>
        <p:nvSpPr>
          <p:cNvPr id="11" name="Shape 9"/>
          <p:cNvSpPr/>
          <p:nvPr/>
        </p:nvSpPr>
        <p:spPr>
          <a:xfrm>
            <a:off x="502920" y="1783080"/>
            <a:ext cx="5330952" cy="1737360"/>
          </a:xfrm>
          <a:prstGeom prst="roundRect">
            <a:avLst>
              <a:gd name="adj" fmla="val 473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2" name="Shape 10"/>
          <p:cNvSpPr/>
          <p:nvPr/>
        </p:nvSpPr>
        <p:spPr>
          <a:xfrm>
            <a:off x="5148072" y="2002536"/>
            <a:ext cx="420624" cy="420624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3" name="Text 11"/>
          <p:cNvSpPr/>
          <p:nvPr/>
        </p:nvSpPr>
        <p:spPr>
          <a:xfrm>
            <a:off x="758952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2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פיזיולוגי</a:t>
            </a:r>
            <a:endParaRPr lang="he-IL" sz="2200" noProof="0" dirty="0"/>
          </a:p>
        </p:txBody>
      </p:sp>
      <p:sp>
        <p:nvSpPr>
          <p:cNvPr id="14" name="Text 12"/>
          <p:cNvSpPr/>
          <p:nvPr/>
        </p:nvSpPr>
        <p:spPr>
          <a:xfrm>
            <a:off x="758952" y="24414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b="1" noProof="0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בגוף שלי</a:t>
            </a:r>
            <a:endParaRPr lang="he-IL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758952" y="28254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רעב · עייפות · בעיית שמיעה, כאבים</a:t>
            </a:r>
            <a:endParaRPr lang="he-IL" sz="1500" noProof="0" dirty="0"/>
          </a:p>
        </p:txBody>
      </p:sp>
      <p:sp>
        <p:nvSpPr>
          <p:cNvPr id="16" name="Shape 14"/>
          <p:cNvSpPr/>
          <p:nvPr/>
        </p:nvSpPr>
        <p:spPr>
          <a:xfrm>
            <a:off x="6355080" y="3703320"/>
            <a:ext cx="5330952" cy="1737360"/>
          </a:xfrm>
          <a:prstGeom prst="roundRect">
            <a:avLst>
              <a:gd name="adj" fmla="val 473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7" name="Shape 15"/>
          <p:cNvSpPr/>
          <p:nvPr/>
        </p:nvSpPr>
        <p:spPr>
          <a:xfrm>
            <a:off x="11000232" y="3922776"/>
            <a:ext cx="420624" cy="420624"/>
          </a:xfrm>
          <a:prstGeom prst="ellipse">
            <a:avLst/>
          </a:prstGeom>
          <a:solidFill>
            <a:srgbClr val="C9973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8" name="Text 16"/>
          <p:cNvSpPr/>
          <p:nvPr/>
        </p:nvSpPr>
        <p:spPr>
          <a:xfrm>
            <a:off x="6611112" y="38679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2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סמנטי</a:t>
            </a:r>
            <a:endParaRPr lang="he-IL" sz="2200" noProof="0" dirty="0"/>
          </a:p>
        </p:txBody>
      </p:sp>
      <p:sp>
        <p:nvSpPr>
          <p:cNvPr id="19" name="Text 17"/>
          <p:cNvSpPr/>
          <p:nvPr/>
        </p:nvSpPr>
        <p:spPr>
          <a:xfrm>
            <a:off x="6611112" y="43616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b="1" noProof="0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במילים</a:t>
            </a:r>
            <a:endParaRPr lang="he-IL" sz="1600" noProof="0" dirty="0"/>
          </a:p>
        </p:txBody>
      </p:sp>
      <p:sp>
        <p:nvSpPr>
          <p:cNvPr id="20" name="Text 18"/>
          <p:cNvSpPr/>
          <p:nvPr/>
        </p:nvSpPr>
        <p:spPr>
          <a:xfrm>
            <a:off x="6611112" y="47457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ז׳רגון · שפה גבוהה ·, מסרים עמומים ״עוד מעט״, מילים עם משמעות כפולה (עקיפה)</a:t>
            </a:r>
            <a:endParaRPr lang="he-IL" sz="1500" noProof="0" dirty="0"/>
          </a:p>
        </p:txBody>
      </p:sp>
      <p:sp>
        <p:nvSpPr>
          <p:cNvPr id="21" name="Shape 19"/>
          <p:cNvSpPr/>
          <p:nvPr/>
        </p:nvSpPr>
        <p:spPr>
          <a:xfrm>
            <a:off x="502920" y="3703320"/>
            <a:ext cx="5330952" cy="1737360"/>
          </a:xfrm>
          <a:prstGeom prst="roundRect">
            <a:avLst>
              <a:gd name="adj" fmla="val 473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2" name="Shape 20"/>
          <p:cNvSpPr/>
          <p:nvPr/>
        </p:nvSpPr>
        <p:spPr>
          <a:xfrm>
            <a:off x="5148072" y="3922776"/>
            <a:ext cx="420624" cy="420624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3" name="Text 21"/>
          <p:cNvSpPr/>
          <p:nvPr/>
        </p:nvSpPr>
        <p:spPr>
          <a:xfrm>
            <a:off x="758952" y="38679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2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פסיכולוגי</a:t>
            </a:r>
            <a:endParaRPr lang="he-IL" sz="2200" noProof="0" dirty="0"/>
          </a:p>
        </p:txBody>
      </p:sp>
      <p:sp>
        <p:nvSpPr>
          <p:cNvPr id="24" name="Text 22"/>
          <p:cNvSpPr/>
          <p:nvPr/>
        </p:nvSpPr>
        <p:spPr>
          <a:xfrm>
            <a:off x="758952" y="43616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בראש שלי</a:t>
            </a:r>
            <a:endParaRPr lang="he-IL" sz="1600" noProof="0" dirty="0"/>
          </a:p>
        </p:txBody>
      </p:sp>
      <p:sp>
        <p:nvSpPr>
          <p:cNvPr id="25" name="Text 23"/>
          <p:cNvSpPr/>
          <p:nvPr/>
        </p:nvSpPr>
        <p:spPr>
          <a:xfrm>
            <a:off x="758952" y="47457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דאגות · לחץ ·סטראוטיפים, פרשנויות, רגישויות </a:t>
            </a:r>
            <a:endParaRPr lang="he-IL" sz="1500" noProof="0" dirty="0"/>
          </a:p>
        </p:txBody>
      </p:sp>
      <p:sp>
        <p:nvSpPr>
          <p:cNvPr id="26" name="Shape 24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 noProof="0" dirty="0"/>
          </a:p>
        </p:txBody>
      </p:sp>
      <p:sp>
        <p:nvSpPr>
          <p:cNvPr id="27" name="Text 25"/>
          <p:cNvSpPr/>
          <p:nvPr/>
        </p:nvSpPr>
        <p:spPr>
          <a:xfrm>
            <a:off x="73152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אות לרעש: יותר מסר, פחות רעש - אפקטיבי יותר.</a:t>
            </a:r>
          </a:p>
          <a:p>
            <a:pPr marL="0" indent="0" algn="r" rtl="1">
              <a:buNone/>
            </a:pPr>
            <a:r>
              <a:rPr lang="he-IL" sz="15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 אפשר להניח שבצד השני אין רעש. </a:t>
            </a:r>
            <a:r>
              <a:rPr lang="he-IL" sz="15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חשוב להיות מודעים להשפעת הרעש עלינו ועל האחר ולנסות לצמצם אותו</a:t>
            </a:r>
            <a:endParaRPr lang="he-IL" sz="15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אפקטיבית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רבדים בכל מסר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355080" y="1783080"/>
            <a:ext cx="5330952" cy="2331720"/>
          </a:xfrm>
          <a:prstGeom prst="roundRect">
            <a:avLst>
              <a:gd name="adj" fmla="val 3529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62940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רובד התוכן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629400" y="2514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העובדות. מדבר על המשימה.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29400" y="3154680"/>
            <a:ext cx="478231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6766560" y="315468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״נגמר החלב״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5330952" cy="2331720"/>
          </a:xfrm>
          <a:prstGeom prst="roundRect">
            <a:avLst>
              <a:gd name="adj" fmla="val 3529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רובד היחסים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אומר עלינו. מדבר עלינו.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3154680"/>
            <a:ext cx="478231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״שוב אני היחידה שדואגת פה למשהו״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43484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 הקונפליקטים אינם על התוכן. הם על היחסים.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68680" y="51206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נתייחס רק לתוכן — נפתור את הבעיה הלא נכונה.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200" b="1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אפקטיבית</a:t>
            </a:r>
            <a:endParaRPr lang="he-IL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המילים</a:t>
            </a:r>
            <a:endParaRPr lang="he-IL" sz="36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1155680" cy="1005840"/>
          </a:xfrm>
          <a:prstGeom prst="roundRect">
            <a:avLst>
              <a:gd name="adj" fmla="val 818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6" name="Shape 4"/>
          <p:cNvSpPr/>
          <p:nvPr/>
        </p:nvSpPr>
        <p:spPr>
          <a:xfrm>
            <a:off x="10927080" y="1883664"/>
            <a:ext cx="438912" cy="438912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7" name="Text 5"/>
          <p:cNvSpPr/>
          <p:nvPr/>
        </p:nvSpPr>
        <p:spPr>
          <a:xfrm>
            <a:off x="694944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0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קונקרטי/מדויק ↔ מופשט/עמום</a:t>
            </a:r>
            <a:endParaRPr lang="he-IL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3749040" y="1600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מוריד אי-הבנות</a:t>
            </a:r>
            <a:endParaRPr lang="he-IL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מעורר השראה ומתקשר חזון</a:t>
            </a:r>
            <a:endParaRPr lang="he-IL" sz="1500" noProof="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1005840"/>
          </a:xfrm>
          <a:prstGeom prst="roundRect">
            <a:avLst>
              <a:gd name="adj" fmla="val 818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1" name="Shape 9"/>
          <p:cNvSpPr/>
          <p:nvPr/>
        </p:nvSpPr>
        <p:spPr>
          <a:xfrm>
            <a:off x="10927080" y="3054096"/>
            <a:ext cx="438912" cy="438912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2" name="Text 10"/>
          <p:cNvSpPr/>
          <p:nvPr/>
        </p:nvSpPr>
        <p:spPr>
          <a:xfrm>
            <a:off x="6949440" y="27706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0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ישיר ↔ עקיף</a:t>
            </a:r>
            <a:endParaRPr lang="he-IL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3749040" y="277063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קונה בהירות, משלם ביחסים</a:t>
            </a:r>
            <a:endParaRPr lang="he-IL" sz="1500" noProof="0" dirty="0"/>
          </a:p>
        </p:txBody>
      </p:sp>
      <p:sp>
        <p:nvSpPr>
          <p:cNvPr id="14" name="Text 12"/>
          <p:cNvSpPr/>
          <p:nvPr/>
        </p:nvSpPr>
        <p:spPr>
          <a:xfrm>
            <a:off x="777240" y="277063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קונה יחסים, משלם בעמימות</a:t>
            </a:r>
            <a:endParaRPr lang="he-IL" sz="1500" noProof="0" dirty="0"/>
          </a:p>
        </p:txBody>
      </p:sp>
      <p:sp>
        <p:nvSpPr>
          <p:cNvPr id="15" name="Shape 13"/>
          <p:cNvSpPr/>
          <p:nvPr/>
        </p:nvSpPr>
        <p:spPr>
          <a:xfrm>
            <a:off x="502920" y="3941064"/>
            <a:ext cx="11155680" cy="1005840"/>
          </a:xfrm>
          <a:prstGeom prst="roundRect">
            <a:avLst>
              <a:gd name="adj" fmla="val 818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6" name="Shape 14"/>
          <p:cNvSpPr/>
          <p:nvPr/>
        </p:nvSpPr>
        <p:spPr>
          <a:xfrm>
            <a:off x="10927080" y="4224528"/>
            <a:ext cx="438912" cy="438912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7" name="Text 15"/>
          <p:cNvSpPr/>
          <p:nvPr/>
        </p:nvSpPr>
        <p:spPr>
          <a:xfrm>
            <a:off x="6949440" y="3941064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0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מכיל ↔ מדיר</a:t>
            </a:r>
            <a:endParaRPr lang="he-IL" sz="2000" noProof="0" dirty="0"/>
          </a:p>
        </p:txBody>
      </p:sp>
      <p:sp>
        <p:nvSpPr>
          <p:cNvPr id="18" name="Text 16"/>
          <p:cNvSpPr/>
          <p:nvPr/>
        </p:nvSpPr>
        <p:spPr>
          <a:xfrm>
            <a:off x="3749040" y="3941064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מחבר את כולם לשיח</a:t>
            </a:r>
            <a:endParaRPr lang="he-IL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3941064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משאיר אנשים בחוץ — ז׳רגון סגור</a:t>
            </a:r>
            <a:endParaRPr lang="he-IL" sz="15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אפקטיבית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מהראביאן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מילולי מול לא-מילולי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57600" cy="2148840"/>
          </a:xfrm>
          <a:prstGeom prst="roundRect">
            <a:avLst>
              <a:gd name="adj" fmla="val 383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62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500"/>
              </a:lnSpc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שפת גוף</a:t>
            </a:r>
            <a:endParaRPr lang="en-US" sz="1700" dirty="0"/>
          </a:p>
          <a:p>
            <a:pPr marL="0" indent="0" algn="ctr" rtl="1">
              <a:lnSpc>
                <a:spcPts val="2500"/>
              </a:lnSpc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והבעות פנים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657600" cy="2148840"/>
          </a:xfrm>
          <a:prstGeom prst="roundRect">
            <a:avLst>
              <a:gd name="adj" fmla="val 383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4434840" y="19659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6200" b="1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4434840" y="3017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500"/>
              </a:lnSpc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טון הקול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01000" y="1783080"/>
            <a:ext cx="3657600" cy="2148840"/>
          </a:xfrm>
          <a:prstGeom prst="roundRect">
            <a:avLst>
              <a:gd name="adj" fmla="val 383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8183880" y="19659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6200" b="1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6200" dirty="0"/>
          </a:p>
        </p:txBody>
      </p:sp>
      <p:sp>
        <p:nvSpPr>
          <p:cNvPr id="14" name="Text 12"/>
          <p:cNvSpPr/>
          <p:nvPr/>
        </p:nvSpPr>
        <p:spPr>
          <a:xfrm>
            <a:off x="8183880" y="3017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500"/>
              </a:lnSpc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המילים עצמן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11183112" cy="1600200"/>
          </a:xfrm>
          <a:prstGeom prst="roundRect">
            <a:avLst>
              <a:gd name="adj" fmla="val 6857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822960" y="43159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סייג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הנתונים נוגעים בעיקר להעברת רגשות ועמדות — </a:t>
            </a:r>
            <a:r>
              <a:rPr lang="en-US" sz="17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ובעיקר במצב של אי-הלימה</a:t>
            </a:r>
            <a:r>
              <a:rPr lang="en-US" sz="17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כשהמילים והגוף סותרים, נאמין לגוף ולטון. על המילים קל לשלוט, על הגוף פחות.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אפקטיבית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מולדת — נלמדת. זה שריר.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כשירות תקשורתית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500616" y="3867912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0296144" y="4069080"/>
            <a:ext cx="493776" cy="493776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0296144" y="40690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10344" y="46908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עצמי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10344" y="537667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3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הווייז הפנימי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51192" y="3867912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8046720" y="4069080"/>
            <a:ext cx="493776" cy="493776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8046720" y="40690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60920" y="46908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ויסות עצמי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60920" y="537667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3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לעצור לפני שמגיבים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01768" y="3867912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5797296" y="4069080"/>
            <a:ext cx="493776" cy="493776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5797296" y="40690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111496" y="46908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גמישות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11496" y="537667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3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רפרטואר רחב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52344" y="3867912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3547872" y="4069080"/>
            <a:ext cx="493776" cy="493776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3547872" y="40690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862072" y="46908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אסרטיביות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62072" y="537667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3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בבירור ובכבוד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867912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1298448" y="4069080"/>
            <a:ext cx="493776" cy="493776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1298448" y="40690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12648" y="46908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מורכבות קוגניטיבית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2648" y="537667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3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להחזיק הכול יחד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44000" y="1801368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2" name="Text 30"/>
          <p:cNvSpPr/>
          <p:nvPr/>
        </p:nvSpPr>
        <p:spPr>
          <a:xfrm>
            <a:off x="9326880" y="19202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אפקטיביות מול הלימות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26880" y="259689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השגתי את מטרתי — ובאופן שמתאים לסיטואציה ולאדם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27648" y="1801368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5" name="Text 33"/>
          <p:cNvSpPr/>
          <p:nvPr/>
        </p:nvSpPr>
        <p:spPr>
          <a:xfrm>
            <a:off x="6510528" y="19202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מטא-תקשורת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10528" y="259689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להסתכל על התקשורת שלי מלמעלה תוך כדי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502152" y="1801368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8" name="Text 36"/>
          <p:cNvSpPr/>
          <p:nvPr/>
        </p:nvSpPr>
        <p:spPr>
          <a:xfrm>
            <a:off x="3685032" y="19202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נקודות בחירה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685032" y="259689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צמתים: להגיד או לא, מתי, איפה, איך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85800" y="1801368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1" name="Text 39"/>
          <p:cNvSpPr/>
          <p:nvPr/>
        </p:nvSpPr>
        <p:spPr>
          <a:xfrm>
            <a:off x="868680" y="19202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אי-הפיכות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8680" y="259689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שנאמר לא נמחק. אפשר לתקן בלבד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אפקטיבית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ערוצי תקשורת — שני צירים בלתי תלויים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233160" y="1565031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סינכרוני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01240" y="1565031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א-סינכרוני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33160" y="2387991"/>
            <a:ext cx="3794760" cy="1325880"/>
          </a:xfrm>
          <a:prstGeom prst="roundRect">
            <a:avLst>
              <a:gd name="adj" fmla="val 620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6416040" y="2552583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פנים אל פנים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16040" y="3028071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הרמזים, משוב מיידי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01240" y="2387991"/>
            <a:ext cx="3794760" cy="1325880"/>
          </a:xfrm>
          <a:prstGeom prst="roundRect">
            <a:avLst>
              <a:gd name="adj" fmla="val 620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2484120" y="2552583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הודעה קולית · וידאו מוקלט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84120" y="3028071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עשיר, אך אין תגובה חיה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160" y="3851031"/>
            <a:ext cx="3794760" cy="1325880"/>
          </a:xfrm>
          <a:prstGeom prst="roundRect">
            <a:avLst>
              <a:gd name="adj" fmla="val 620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416040" y="4015623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שיחת טלפון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16040" y="4491111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טון בלבד, בזמן אמת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01240" y="3851031"/>
            <a:ext cx="3794760" cy="1325880"/>
          </a:xfrm>
          <a:prstGeom prst="roundRect">
            <a:avLst>
              <a:gd name="adj" fmla="val 620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2484120" y="4015623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מייל · הודעת טקסט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484120" y="4491111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מילים בלבד, ניתן לעריכה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-716280" y="2387991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ערוץ עשיר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-716280" y="3851031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ערוץ דל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73152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מייל = דל וגם א-סינכרוני. בשאלת סיווג — סווגו בשני הצירים </a:t>
            </a:r>
            <a:r>
              <a:rPr lang="en-US" sz="1500" b="1" dirty="0" err="1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</a:t>
            </a:r>
            <a:r>
              <a:rPr lang="en-US" sz="15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שבוחרים</a:t>
            </a:r>
            <a:r>
              <a:rPr lang="en-US" sz="15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אפקטיבית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רעש מסוג חדש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העידן הדיגיטלי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355080" y="1737360"/>
            <a:ext cx="5330952" cy="2103120"/>
          </a:xfrm>
          <a:prstGeom prst="roundRect">
            <a:avLst>
              <a:gd name="adj" fmla="val 3913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629400" y="1901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פרדוקס הזום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629400" y="23774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6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ערוץ עשיר בפוטנציאל — ועתיר עומס </a:t>
            </a:r>
            <a:r>
              <a:rPr lang="en-US" sz="1600" dirty="0" err="1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בפועל</a:t>
            </a:r>
            <a:r>
              <a:rPr lang="en-US" sz="16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5330952" cy="2103120"/>
          </a:xfrm>
          <a:prstGeom prst="roundRect">
            <a:avLst>
              <a:gd name="adj" fmla="val 3913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777240" y="1901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הצפת מידע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6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כמות המסרים היא עצמה </a:t>
            </a:r>
            <a:r>
              <a:rPr lang="en-US" sz="1600" dirty="0" err="1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הרעש</a:t>
            </a:r>
            <a:r>
              <a:rPr lang="en-US" sz="16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4023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הכללים המעשיים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430000" y="4645152"/>
            <a:ext cx="146304" cy="146304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להתאים את </a:t>
            </a:r>
            <a:r>
              <a:rPr lang="en-US" sz="17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הערוץ</a:t>
            </a: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למסר</a:t>
            </a:r>
            <a:r>
              <a:rPr lang="he-IL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(מסר רגשי או טעון- ערוץ עשיר, מסר טכני, לוגי ודורש תעוד- ערוץ דל ובקצרה)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1430000" y="5650992"/>
            <a:ext cx="146304" cy="146304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640080" y="55321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הקהל הסמוי: </a:t>
            </a:r>
            <a:r>
              <a:rPr lang="he-IL" sz="1700" b="1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בעידן הדיגיטלי הכל נשאר לנצח. התדמית הדיגיטלית חשובה ויש להיות מודעים לה. </a:t>
            </a: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 תכתבו דבר שלא הייתם מוכנים שיוקרן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34467F">
              <a:alpha val="4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8138160" y="960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ב׳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אמפתיה</a:t>
            </a:r>
            <a:endParaRPr lang="en-US" sz="4600" dirty="0"/>
          </a:p>
          <a:p>
            <a:pPr marL="0" indent="0" algn="r" rtl="1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ותקשורת אמפתית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19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מרכיבים · הקשבה · שיקוף ותיקוף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98348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60120" y="4983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200" b="1" noProof="0" dirty="0">
                <a:solidFill>
                  <a:srgbClr val="76809A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אמפתיה</a:t>
            </a:r>
            <a:endParaRPr lang="he-IL" sz="12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noProof="0" dirty="0">
                <a:solidFill>
                  <a:srgbClr val="141C3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מה אמפתיה </a:t>
            </a:r>
            <a:r>
              <a:rPr lang="he-IL" sz="3600" b="1" u="sng" noProof="0" dirty="0">
                <a:solidFill>
                  <a:srgbClr val="141C3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איננה</a:t>
            </a:r>
            <a:endParaRPr lang="he-IL" sz="3600" u="sng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55080" y="1737360"/>
            <a:ext cx="5330952" cy="987552"/>
          </a:xfrm>
          <a:prstGeom prst="roundRect">
            <a:avLst>
              <a:gd name="adj" fmla="val 8333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064240" y="173736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E2664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✕</a:t>
            </a:r>
            <a:endParaRPr lang="he-IL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0" y="1828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noProof="0" dirty="0">
                <a:solidFill>
                  <a:srgbClr val="141C3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סימפטיה</a:t>
            </a:r>
            <a:endParaRPr lang="he-IL" sz="1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להצטער עליו מבחוץ</a:t>
            </a:r>
            <a:endParaRPr lang="he-IL" sz="15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5330952" cy="987552"/>
          </a:xfrm>
          <a:prstGeom prst="roundRect">
            <a:avLst>
              <a:gd name="adj" fmla="val 83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12080" y="173736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E2664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✕</a:t>
            </a:r>
            <a:endParaRPr lang="he-IL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noProof="0" dirty="0">
                <a:solidFill>
                  <a:srgbClr val="141C3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רחמים וחמלה</a:t>
            </a:r>
            <a:endParaRPr lang="he-IL" sz="1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2240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תחושה מלמעלה</a:t>
            </a:r>
            <a:endParaRPr lang="he-IL" sz="15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55080" y="2880360"/>
            <a:ext cx="5330952" cy="987552"/>
          </a:xfrm>
          <a:prstGeom prst="roundRect">
            <a:avLst>
              <a:gd name="adj" fmla="val 83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064240" y="288036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E2664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✕</a:t>
            </a:r>
            <a:endParaRPr lang="he-IL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0" y="2971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noProof="0" dirty="0">
                <a:solidFill>
                  <a:srgbClr val="141C3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נחמדות</a:t>
            </a:r>
            <a:endParaRPr lang="he-IL" sz="1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0" y="3383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אפשר להיות מקסים בלי להיכנס לחוויה</a:t>
            </a:r>
            <a:endParaRPr lang="he-IL" sz="15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2880360"/>
            <a:ext cx="5330952" cy="987552"/>
          </a:xfrm>
          <a:prstGeom prst="roundRect">
            <a:avLst>
              <a:gd name="adj" fmla="val 83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12080" y="288036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E2664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✕</a:t>
            </a:r>
            <a:endParaRPr lang="he-IL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2971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noProof="0" dirty="0">
                <a:solidFill>
                  <a:srgbClr val="141C3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הסכמה</a:t>
            </a:r>
            <a:endParaRPr lang="he-IL" sz="1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אפשר להבין ולחשוב שהוא טועה</a:t>
            </a:r>
            <a:endParaRPr lang="he-IL" sz="15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55080" y="4023360"/>
            <a:ext cx="5330952" cy="987552"/>
          </a:xfrm>
          <a:prstGeom prst="roundRect">
            <a:avLst>
              <a:gd name="adj" fmla="val 83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064240" y="402336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E2664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✕</a:t>
            </a:r>
            <a:endParaRPr lang="he-IL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4114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noProof="0" dirty="0">
                <a:solidFill>
                  <a:srgbClr val="141C3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הזדהות</a:t>
            </a:r>
            <a:endParaRPr lang="he-IL" sz="1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83680" y="4526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להיכנס לנעליים ולשכוח לצאת</a:t>
            </a:r>
            <a:endParaRPr lang="he-IL" sz="15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20" y="4023360"/>
            <a:ext cx="5330952" cy="987552"/>
          </a:xfrm>
          <a:prstGeom prst="roundRect">
            <a:avLst>
              <a:gd name="adj" fmla="val 83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12080" y="402336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E2664F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✕</a:t>
            </a:r>
            <a:endParaRPr lang="he-IL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" y="4114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noProof="0" dirty="0">
                <a:solidFill>
                  <a:srgbClr val="141C3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רק רגשות שליליים</a:t>
            </a:r>
            <a:endParaRPr lang="he-IL" sz="1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גם לשמחה, לגאווה, להתרגשות</a:t>
            </a:r>
            <a:endParaRPr lang="he-IL" sz="15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2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400" b="1" noProof="0" dirty="0">
                <a:solidFill>
                  <a:srgbClr val="141C3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להבין ולהרגיש את חוויית האחר מנקודת מבטו — בלי לוותר על נקודת המבט שלי. להיות בנעלים שלו ולחזור לנעליים שלנו</a:t>
            </a:r>
            <a:endParaRPr lang="he-IL" sz="2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426CEDE1-791F-F804-9C1E-46E272592BB8}"/>
              </a:ext>
            </a:extLst>
          </p:cNvPr>
          <p:cNvSpPr/>
          <p:nvPr/>
        </p:nvSpPr>
        <p:spPr>
          <a:xfrm>
            <a:off x="274320" y="50703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noProof="0" dirty="0">
                <a:solidFill>
                  <a:srgbClr val="141C3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מהי אמפתיה?</a:t>
            </a:r>
            <a:endParaRPr lang="he-IL" sz="3600" u="sng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200" b="1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אמפתיה</a:t>
            </a:r>
            <a:endParaRPr lang="he-IL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שלושת מרכיבי האמפתיה</a:t>
            </a:r>
            <a:endParaRPr lang="he-IL" sz="3600" noProof="0" dirty="0"/>
          </a:p>
        </p:txBody>
      </p:sp>
      <p:sp>
        <p:nvSpPr>
          <p:cNvPr id="6" name="Shape 4"/>
          <p:cNvSpPr/>
          <p:nvPr/>
        </p:nvSpPr>
        <p:spPr>
          <a:xfrm>
            <a:off x="8001000" y="1737360"/>
            <a:ext cx="3657600" cy="2377440"/>
          </a:xfrm>
          <a:prstGeom prst="roundRect">
            <a:avLst>
              <a:gd name="adj" fmla="val 346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7" name="Shape 5"/>
          <p:cNvSpPr/>
          <p:nvPr/>
        </p:nvSpPr>
        <p:spPr>
          <a:xfrm>
            <a:off x="9464040" y="1920240"/>
            <a:ext cx="731520" cy="731520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8" name="Text 6"/>
          <p:cNvSpPr/>
          <p:nvPr/>
        </p:nvSpPr>
        <p:spPr>
          <a:xfrm>
            <a:off x="94640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</a:t>
            </a:r>
            <a:endParaRPr lang="he-IL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818388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1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רגשי</a:t>
            </a:r>
            <a:endParaRPr lang="he-IL" sz="2100" noProof="0" dirty="0"/>
          </a:p>
        </p:txBody>
      </p:sp>
      <p:sp>
        <p:nvSpPr>
          <p:cNvPr id="10" name="Text 8"/>
          <p:cNvSpPr/>
          <p:nvPr/>
        </p:nvSpPr>
        <p:spPr>
          <a:xfrm>
            <a:off x="818388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he-IL" sz="16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מרגישה</a:t>
            </a:r>
            <a:endParaRPr lang="he-IL" sz="1600" noProof="0" dirty="0"/>
          </a:p>
          <a:p>
            <a:pPr marL="0" indent="0" algn="ctr" rtl="1">
              <a:lnSpc>
                <a:spcPts val="2200"/>
              </a:lnSpc>
              <a:buNone/>
            </a:pPr>
            <a:r>
              <a:rPr lang="he-IL" sz="16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שהוא מרגיש</a:t>
            </a:r>
            <a:endParaRPr lang="he-IL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818388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300" b="1" noProof="0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נוירוני</a:t>
            </a:r>
            <a:r>
              <a:rPr lang="he-IL" sz="13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מראה</a:t>
            </a:r>
            <a:endParaRPr lang="he-IL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4251960" y="1737360"/>
            <a:ext cx="3657600" cy="2377440"/>
          </a:xfrm>
          <a:prstGeom prst="roundRect">
            <a:avLst>
              <a:gd name="adj" fmla="val 346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3" name="Shape 11"/>
          <p:cNvSpPr/>
          <p:nvPr/>
        </p:nvSpPr>
        <p:spPr>
          <a:xfrm>
            <a:off x="5715000" y="1920240"/>
            <a:ext cx="731520" cy="73152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4" name="Text 12"/>
          <p:cNvSpPr/>
          <p:nvPr/>
        </p:nvSpPr>
        <p:spPr>
          <a:xfrm>
            <a:off x="57150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</a:t>
            </a:r>
            <a:endParaRPr lang="he-IL" sz="2600" noProof="0" dirty="0"/>
          </a:p>
        </p:txBody>
      </p:sp>
      <p:sp>
        <p:nvSpPr>
          <p:cNvPr id="15" name="Text 13"/>
          <p:cNvSpPr/>
          <p:nvPr/>
        </p:nvSpPr>
        <p:spPr>
          <a:xfrm>
            <a:off x="443484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1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קוגניטיבי</a:t>
            </a:r>
            <a:endParaRPr lang="he-IL" sz="2100" noProof="0" dirty="0"/>
          </a:p>
        </p:txBody>
      </p:sp>
      <p:sp>
        <p:nvSpPr>
          <p:cNvPr id="16" name="Text 14"/>
          <p:cNvSpPr/>
          <p:nvPr/>
        </p:nvSpPr>
        <p:spPr>
          <a:xfrm>
            <a:off x="443484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he-IL" sz="16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מבינה מה הוא</a:t>
            </a:r>
            <a:r>
              <a:rPr lang="he-IL" sz="1600" noProof="0" dirty="0"/>
              <a:t> </a:t>
            </a:r>
            <a:r>
              <a:rPr lang="he-IL" sz="16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עובר </a:t>
            </a:r>
          </a:p>
          <a:p>
            <a:pPr marL="0" indent="0" algn="ctr" rtl="1">
              <a:lnSpc>
                <a:spcPts val="2200"/>
              </a:lnSpc>
              <a:buNone/>
            </a:pPr>
            <a:r>
              <a:rPr lang="he-IL" sz="16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ומה הוא צריך</a:t>
            </a:r>
            <a:endParaRPr lang="he-IL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443484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300" b="1" noProof="0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הבנת המצב, תאוריית מיינד</a:t>
            </a:r>
            <a:endParaRPr lang="he-IL" sz="1300" noProof="0" dirty="0"/>
          </a:p>
        </p:txBody>
      </p:sp>
      <p:sp>
        <p:nvSpPr>
          <p:cNvPr id="18" name="Shape 16"/>
          <p:cNvSpPr/>
          <p:nvPr/>
        </p:nvSpPr>
        <p:spPr>
          <a:xfrm>
            <a:off x="502920" y="1737360"/>
            <a:ext cx="3657600" cy="2377440"/>
          </a:xfrm>
          <a:prstGeom prst="roundRect">
            <a:avLst>
              <a:gd name="adj" fmla="val 346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9" name="Shape 17"/>
          <p:cNvSpPr/>
          <p:nvPr/>
        </p:nvSpPr>
        <p:spPr>
          <a:xfrm>
            <a:off x="1965960" y="1920240"/>
            <a:ext cx="731520" cy="731520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0" name="Text 18"/>
          <p:cNvSpPr/>
          <p:nvPr/>
        </p:nvSpPr>
        <p:spPr>
          <a:xfrm>
            <a:off x="19659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6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</a:t>
            </a:r>
            <a:endParaRPr lang="he-IL" sz="2600" noProof="0" dirty="0"/>
          </a:p>
        </p:txBody>
      </p:sp>
      <p:sp>
        <p:nvSpPr>
          <p:cNvPr id="21" name="Text 19"/>
          <p:cNvSpPr/>
          <p:nvPr/>
        </p:nvSpPr>
        <p:spPr>
          <a:xfrm>
            <a:off x="68580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1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התנהגותי</a:t>
            </a:r>
            <a:endParaRPr lang="he-IL" sz="2100" noProof="0" dirty="0"/>
          </a:p>
        </p:txBody>
      </p:sp>
      <p:sp>
        <p:nvSpPr>
          <p:cNvPr id="22" name="Text 20"/>
          <p:cNvSpPr/>
          <p:nvPr/>
        </p:nvSpPr>
        <p:spPr>
          <a:xfrm>
            <a:off x="68580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he-IL" sz="16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עושה משהו</a:t>
            </a:r>
            <a:r>
              <a:rPr lang="he-IL" sz="1600" noProof="0" dirty="0"/>
              <a:t> </a:t>
            </a:r>
            <a:r>
              <a:rPr lang="he-IL" sz="16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שהוא רואה</a:t>
            </a:r>
            <a:endParaRPr lang="he-IL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68580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300" b="1" noProof="0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דורש מעורבות (מילים, מגע, פעולה)  </a:t>
            </a:r>
            <a:endParaRPr lang="he-IL" sz="1300" noProof="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קורה כשחסר מרכיב</a:t>
            </a:r>
            <a:endParaRPr lang="he-IL" sz="1900" noProof="0" dirty="0"/>
          </a:p>
        </p:txBody>
      </p:sp>
      <p:sp>
        <p:nvSpPr>
          <p:cNvPr id="25" name="Shape 23"/>
          <p:cNvSpPr/>
          <p:nvPr/>
        </p:nvSpPr>
        <p:spPr>
          <a:xfrm>
            <a:off x="8001000" y="4800600"/>
            <a:ext cx="3657600" cy="960120"/>
          </a:xfrm>
          <a:prstGeom prst="roundRect">
            <a:avLst>
              <a:gd name="adj" fmla="val 8571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6" name="Text 24"/>
          <p:cNvSpPr/>
          <p:nvPr/>
        </p:nvSpPr>
        <p:spPr>
          <a:xfrm>
            <a:off x="8183880" y="4873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רגשי בלי קוגניטיבי</a:t>
            </a:r>
            <a:endParaRPr lang="he-IL" sz="1400" noProof="0" dirty="0"/>
          </a:p>
        </p:txBody>
      </p:sp>
      <p:sp>
        <p:nvSpPr>
          <p:cNvPr id="27" name="Text 25"/>
          <p:cNvSpPr/>
          <p:nvPr/>
        </p:nvSpPr>
        <p:spPr>
          <a:xfrm>
            <a:off x="8183880" y="5193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he-IL" sz="1300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מוצפת ולא מבינה מה קרה</a:t>
            </a:r>
            <a:endParaRPr lang="he-IL" sz="1300" noProof="0" dirty="0"/>
          </a:p>
        </p:txBody>
      </p:sp>
      <p:sp>
        <p:nvSpPr>
          <p:cNvPr id="28" name="Shape 26"/>
          <p:cNvSpPr/>
          <p:nvPr/>
        </p:nvSpPr>
        <p:spPr>
          <a:xfrm>
            <a:off x="4251960" y="4800600"/>
            <a:ext cx="3657600" cy="960120"/>
          </a:xfrm>
          <a:prstGeom prst="roundRect">
            <a:avLst>
              <a:gd name="adj" fmla="val 8571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9" name="Text 27"/>
          <p:cNvSpPr/>
          <p:nvPr/>
        </p:nvSpPr>
        <p:spPr>
          <a:xfrm>
            <a:off x="4434840" y="4873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קוגניטיבי בלי רגשי</a:t>
            </a:r>
            <a:endParaRPr lang="he-IL" sz="1400" noProof="0" dirty="0"/>
          </a:p>
        </p:txBody>
      </p:sp>
      <p:sp>
        <p:nvSpPr>
          <p:cNvPr id="30" name="Text 28"/>
          <p:cNvSpPr/>
          <p:nvPr/>
        </p:nvSpPr>
        <p:spPr>
          <a:xfrm>
            <a:off x="4434840" y="5193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he-IL" sz="1300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מבינה איפה הוא פגיע — ולא אכפת לי. זה ניצול</a:t>
            </a:r>
            <a:endParaRPr lang="he-IL" sz="1300" noProof="0" dirty="0"/>
          </a:p>
        </p:txBody>
      </p:sp>
      <p:sp>
        <p:nvSpPr>
          <p:cNvPr id="31" name="Shape 29"/>
          <p:cNvSpPr/>
          <p:nvPr/>
        </p:nvSpPr>
        <p:spPr>
          <a:xfrm>
            <a:off x="502920" y="4800600"/>
            <a:ext cx="3657600" cy="960120"/>
          </a:xfrm>
          <a:prstGeom prst="roundRect">
            <a:avLst>
              <a:gd name="adj" fmla="val 8571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32" name="Text 30"/>
          <p:cNvSpPr/>
          <p:nvPr/>
        </p:nvSpPr>
        <p:spPr>
          <a:xfrm>
            <a:off x="685800" y="4873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שניהם בלי התנהגותי</a:t>
            </a:r>
            <a:endParaRPr lang="he-IL" sz="1400" noProof="0" dirty="0"/>
          </a:p>
        </p:txBody>
      </p:sp>
      <p:sp>
        <p:nvSpPr>
          <p:cNvPr id="33" name="Text 31"/>
          <p:cNvSpPr/>
          <p:nvPr/>
        </p:nvSpPr>
        <p:spPr>
          <a:xfrm>
            <a:off x="685800" y="5193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he-IL" sz="1300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מבחינת הצד השני איש לא ראה אותו</a:t>
            </a:r>
            <a:endParaRPr lang="he-IL" sz="13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CC251-3D99-546F-0F56-62A22069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הקשבה אמפתית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D2E0F-59C6-8F1F-4577-DE78AA8C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הקשבה ממוקדת ופעילה בה אנחנו שמים בצד את ההנחות, הפרשנויות והרגשות שלנו ומתמקדים בצד השני</a:t>
            </a:r>
          </a:p>
          <a:p>
            <a:pPr algn="r" rtl="1"/>
            <a:r>
              <a:rPr lang="he-IL" dirty="0"/>
              <a:t>המטרה: להבין את הצד השני ולשדר לו שאנחנו איתו</a:t>
            </a:r>
          </a:p>
          <a:p>
            <a:pPr algn="r" rtl="1"/>
            <a:r>
              <a:rPr lang="he-IL" dirty="0"/>
              <a:t>פרספקטיבה כפולה: יכולת להחזיק את האמת שלנו ושל האחר במקביל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5650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אמפתיה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שמיעה היא פיזיולוגית · הקשבה היא מנטלית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חסמים להקשבה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868680"/>
          </a:xfrm>
          <a:prstGeom prst="roundRect">
            <a:avLst>
              <a:gd name="adj" fmla="val 9474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0991088" y="1965960"/>
            <a:ext cx="502920" cy="50292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099108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0" y="1783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הקשבה שיפוטית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מקטלגים תוך כדי — וברגע ששפטנו הפסקנו </a:t>
            </a: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להקשיב</a:t>
            </a: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11155680" cy="868680"/>
          </a:xfrm>
          <a:prstGeom prst="roundRect">
            <a:avLst>
              <a:gd name="adj" fmla="val 9474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10991088" y="2971800"/>
            <a:ext cx="502920" cy="50292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1099108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0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התשובה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2788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מתאמנים בראש על </a:t>
            </a: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</a:t>
            </a: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המחץ</a:t>
            </a:r>
            <a:r>
              <a:rPr lang="he-IL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וכל הקשב ממוקד בנו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11155680" cy="868680"/>
          </a:xfrm>
          <a:prstGeom prst="roundRect">
            <a:avLst>
              <a:gd name="adj" fmla="val 9474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10991088" y="3977640"/>
            <a:ext cx="502920" cy="50292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1099108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772400" y="3794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הקשבה סלקטיבית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שומעים רק את מה שמאשר את מה שכבר חשבנו — הטיית האישוש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4800600"/>
            <a:ext cx="11155680" cy="868680"/>
          </a:xfrm>
          <a:prstGeom prst="roundRect">
            <a:avLst>
              <a:gd name="adj" fmla="val 9474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10991088" y="4983480"/>
            <a:ext cx="502920" cy="50292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10991088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רעשים ולחצים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77240" y="48006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שחיקת חמלה ולחץ זמן. ניסוי השומרוני הטוב: מי שמיהר, לא עצר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73152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מהירות המחשבה גבוהה ממהירות הדיבור — ואת הפער אנחנו ממלאים בעצמנו.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אמפתיה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המנוע</a:t>
            </a: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סקרנות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פתוחות — שלושה סוגים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001000" y="178308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822960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פירוט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2468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600" i="1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״ספר לי על זה </a:t>
            </a:r>
            <a:r>
              <a:rPr lang="en-US" sz="1600" i="1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</a:t>
            </a:r>
            <a:r>
              <a:rPr lang="en-US" sz="1600" i="1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448056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הבהרה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2468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600" i="1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״למה בדיוק </a:t>
            </a:r>
            <a:r>
              <a:rPr lang="en-US" sz="1600" i="1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התכוונת</a:t>
            </a:r>
            <a:r>
              <a:rPr lang="en-US" sz="1600" i="1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178308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73152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העמקה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600" i="1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״מה עמד מאחורי ההחלטה?״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11183112" cy="1737360"/>
          </a:xfrm>
          <a:prstGeom prst="roundRect">
            <a:avLst>
              <a:gd name="adj" fmla="val 6316"/>
            </a:avLst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סקרנות היא המיומנות הראשונה של אדם אמפתי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מרשימת מכולת נשמעות כמו שאלות מרשימת מכולת.</a:t>
            </a:r>
            <a:endParaRPr lang="en-US" sz="1700" dirty="0"/>
          </a:p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סקרנות אמיתית נשמעת אחרת לגמרי. </a:t>
            </a:r>
            <a:r>
              <a:rPr lang="en-US" sz="1700" dirty="0" err="1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רומן</a:t>
            </a:r>
            <a:r>
              <a:rPr lang="en-US" sz="17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קרזניק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אמפתיה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כולן מכוונה טובה — ובשלב הראשון בלבד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תגובות שחוסמות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987552"/>
          </a:xfrm>
          <a:prstGeom prst="roundRect">
            <a:avLst>
              <a:gd name="adj" fmla="val 83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0927080" y="2057400"/>
            <a:ext cx="438912" cy="438912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7498080" y="1783080"/>
            <a:ext cx="3246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תגובת הייעוץ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קופצים</a:t>
            </a: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</a:t>
            </a:r>
            <a:r>
              <a:rPr lang="he-IL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הציע </a:t>
            </a: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פתרון</a:t>
            </a: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</a:t>
            </a: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</a:t>
            </a:r>
            <a:r>
              <a:rPr lang="he-IL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נתנו מקום לפרוק ולפני ש</a:t>
            </a: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הבנו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916936"/>
            <a:ext cx="11155680" cy="987552"/>
          </a:xfrm>
          <a:prstGeom prst="roundRect">
            <a:avLst>
              <a:gd name="adj" fmla="val 83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10927080" y="3191256"/>
            <a:ext cx="438912" cy="438912"/>
          </a:xfrm>
          <a:prstGeom prst="ellipse">
            <a:avLst/>
          </a:prstGeom>
          <a:solidFill>
            <a:srgbClr val="C9973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7498080" y="2916936"/>
            <a:ext cx="3246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Lining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2916936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״לפחות לא…״ — מקטין את החוויה לפני שנבדקה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050792"/>
            <a:ext cx="11155680" cy="987552"/>
          </a:xfrm>
          <a:prstGeom prst="roundRect">
            <a:avLst>
              <a:gd name="adj" fmla="val 83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10927080" y="4325112"/>
            <a:ext cx="438912" cy="438912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7498080" y="4050792"/>
            <a:ext cx="3246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סיפורים על עצמנו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4050792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״גם לי קרה״ — מעביר את המוקד ממנו אלינו. 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בהמשך בהחלט נייעץ ונעזור — פשוט לא כשהאדם עדיין מוצף.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אמפתיה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וההבדל ביניהם נבחן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הכלים המרכזיים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355080" y="1737360"/>
            <a:ext cx="5330952" cy="3017520"/>
          </a:xfrm>
          <a:prstGeom prst="roundRect">
            <a:avLst>
              <a:gd name="adj" fmla="val 272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629400" y="1874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שיקוף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921240" y="1975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הדהוד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423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להחזיר את המשמעות והרגש שקלטנו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29400" y="3063240"/>
            <a:ext cx="478231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6766560" y="306324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״נשמע שאתה מאוד מתוסכל, כי הרגשת שלא מעריכים אותך״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4069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מוודא שהבנתי נכון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1737360"/>
            <a:ext cx="5330952" cy="3017520"/>
          </a:xfrm>
          <a:prstGeom prst="roundRect">
            <a:avLst>
              <a:gd name="adj" fmla="val 272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777240" y="1874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תיקוף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69080" y="1975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ולידציה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2423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לתת לגיטימציה לרגש — ואינו הסכמה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3063240"/>
            <a:ext cx="478231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914400" y="306324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״הגיוני לגמרי שתחשוש, זו חוויה מלחיצה״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משדר שמותר לו להרגיש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983480"/>
            <a:ext cx="11183112" cy="1188720"/>
          </a:xfrm>
          <a:prstGeom prst="roundRect">
            <a:avLst>
              <a:gd name="adj" fmla="val 9231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822960" y="5102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ומשפט ממשיך, לא סוגר:  ״ספר לי עוד. אני כאן.  מה היית רוצה ממני?״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האחרונה מעבירה את הכדור לצד השני — אני לא מחליטה בשבילך מה אתה צריך.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8575"/>
            <a:ext cx="12192000" cy="68294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אמפתיה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</a:t>
            </a:r>
            <a:r>
              <a:rPr lang="he-IL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</a:t>
            </a: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מסננת לפני שפותחים את הפה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0" cy="731520"/>
          </a:xfrm>
          <a:prstGeom prst="roundRect">
            <a:avLst>
              <a:gd name="adj" fmla="val 1125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0991088" y="1892808"/>
            <a:ext cx="512064" cy="512064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10991088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900" b="1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זה נכון — או שזו הפרשנות שלי?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2642616"/>
            <a:ext cx="11155680" cy="731520"/>
          </a:xfrm>
          <a:prstGeom prst="roundRect">
            <a:avLst>
              <a:gd name="adj" fmla="val 1125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10991088" y="2752344"/>
            <a:ext cx="512064" cy="512064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10991088" y="2752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0" y="264261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9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2642616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זה תורם, או רק מוסיף חרדה?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02920" y="3502152"/>
            <a:ext cx="11155680" cy="731520"/>
          </a:xfrm>
          <a:prstGeom prst="roundRect">
            <a:avLst>
              <a:gd name="adj" fmla="val 1125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10991088" y="3611880"/>
            <a:ext cx="512064" cy="512064"/>
          </a:xfrm>
          <a:prstGeom prst="ellipse">
            <a:avLst/>
          </a:prstGeom>
          <a:solidFill>
            <a:srgbClr val="C9973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10991088" y="3611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86800" y="35021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900" b="1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77240" y="350215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זה מרים אותו?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02920" y="4361688"/>
            <a:ext cx="11155680" cy="731520"/>
          </a:xfrm>
          <a:prstGeom prst="roundRect">
            <a:avLst>
              <a:gd name="adj" fmla="val 1125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10991088" y="4471416"/>
            <a:ext cx="512064" cy="512064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10991088" y="4471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86800" y="43616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9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Necessary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77240" y="436168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זה נחוץ? יש דברים לא נעימים שכן צריך לומר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02920" y="5221224"/>
            <a:ext cx="11155680" cy="731520"/>
          </a:xfrm>
          <a:prstGeom prst="roundRect">
            <a:avLst>
              <a:gd name="adj" fmla="val 1125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10991088" y="5330952"/>
            <a:ext cx="512064" cy="512064"/>
          </a:xfrm>
          <a:prstGeom prst="ellipse">
            <a:avLst/>
          </a:prstGeom>
          <a:solidFill>
            <a:srgbClr val="34467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10991088" y="5330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86800" y="522122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900" b="1" dirty="0">
                <a:solidFill>
                  <a:srgbClr val="344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77240" y="522122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זה בא ממקום אמיתי של רצון לעזור?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34467F">
              <a:alpha val="4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8138160" y="960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ג׳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קונפליקטים</a:t>
            </a:r>
            <a:endParaRPr lang="en-US" sz="4600" dirty="0"/>
          </a:p>
          <a:p>
            <a:pPr marL="0" indent="0" algn="r" rtl="1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ושיחות קשות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19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סגנונות · שלוש השיחות · תקשורת מקרבת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98348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60120" y="4983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200" b="1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קונפליקטים</a:t>
            </a:r>
            <a:endParaRPr lang="he-IL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מהו קונפליקט?</a:t>
            </a:r>
            <a:endParaRPr lang="he-IL" sz="36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3112" cy="1051560"/>
          </a:xfrm>
          <a:prstGeom prst="roundRect">
            <a:avLst>
              <a:gd name="adj" fmla="val 10435"/>
            </a:avLst>
          </a:prstGeom>
          <a:solidFill>
            <a:srgbClr val="1F2E5C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he-IL" sz="2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מאבק בין שני צדדים לפחות שיש ביניהם תלות הדדית,</a:t>
            </a:r>
            <a:endParaRPr lang="he-IL" sz="2100" noProof="0" dirty="0"/>
          </a:p>
          <a:p>
            <a:pPr marL="0" indent="0" algn="r" rtl="1">
              <a:lnSpc>
                <a:spcPts val="3000"/>
              </a:lnSpc>
              <a:buNone/>
            </a:pPr>
            <a:r>
              <a:rPr lang="he-IL" sz="2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והם תופסים את המטרות שלהם כלא-תואמות</a:t>
            </a:r>
            <a:endParaRPr lang="he-IL" sz="2100" noProof="0" dirty="0"/>
          </a:p>
        </p:txBody>
      </p:sp>
      <p:sp>
        <p:nvSpPr>
          <p:cNvPr id="7" name="Shape 5"/>
          <p:cNvSpPr/>
          <p:nvPr/>
        </p:nvSpPr>
        <p:spPr>
          <a:xfrm>
            <a:off x="8001000" y="2926080"/>
            <a:ext cx="3657600" cy="1691640"/>
          </a:xfrm>
          <a:prstGeom prst="roundRect">
            <a:avLst>
              <a:gd name="adj" fmla="val 4865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8" name="Text 6"/>
          <p:cNvSpPr/>
          <p:nvPr/>
        </p:nvSpPr>
        <p:spPr>
          <a:xfrm>
            <a:off x="8229600" y="3090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1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תלות הדדית</a:t>
            </a:r>
            <a:endParaRPr lang="he-IL" sz="21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0" y="36118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he-IL" sz="16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שהקשר קרוב יותר — הסיכוי לקונפליקט, עומקו ורוחבו גדלים</a:t>
            </a:r>
            <a:endParaRPr lang="he-IL" sz="1600" noProof="0" dirty="0"/>
          </a:p>
        </p:txBody>
      </p:sp>
      <p:sp>
        <p:nvSpPr>
          <p:cNvPr id="10" name="Shape 8"/>
          <p:cNvSpPr/>
          <p:nvPr/>
        </p:nvSpPr>
        <p:spPr>
          <a:xfrm>
            <a:off x="4251960" y="2926080"/>
            <a:ext cx="3657600" cy="1691640"/>
          </a:xfrm>
          <a:prstGeom prst="roundRect">
            <a:avLst>
              <a:gd name="adj" fmla="val 4865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1" name="Text 9"/>
          <p:cNvSpPr/>
          <p:nvPr/>
        </p:nvSpPr>
        <p:spPr>
          <a:xfrm>
            <a:off x="4480560" y="3090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100" b="1" noProof="0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תפיסה</a:t>
            </a:r>
            <a:endParaRPr lang="he-IL" sz="2100" noProof="0" dirty="0"/>
          </a:p>
        </p:txBody>
      </p:sp>
      <p:sp>
        <p:nvSpPr>
          <p:cNvPr id="12" name="Text 10"/>
          <p:cNvSpPr/>
          <p:nvPr/>
        </p:nvSpPr>
        <p:spPr>
          <a:xfrm>
            <a:off x="4480560" y="36118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he-IL" sz="16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מספיק שאני חושב שאתה מפריע לי. אובייקטיבית זה לא חייב להיות נכון</a:t>
            </a:r>
            <a:endParaRPr lang="he-IL" sz="16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3657600" cy="1691640"/>
          </a:xfrm>
          <a:prstGeom prst="roundRect">
            <a:avLst>
              <a:gd name="adj" fmla="val 4865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100" b="1" noProof="0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לא-תואמות</a:t>
            </a:r>
            <a:endParaRPr lang="he-IL" sz="2100" noProof="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he-IL" sz="16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״שונות״ — אלא נתפסות כמתנגשות</a:t>
            </a:r>
            <a:endParaRPr lang="he-IL" sz="1600" noProof="0" dirty="0"/>
          </a:p>
        </p:txBody>
      </p:sp>
      <p:sp>
        <p:nvSpPr>
          <p:cNvPr id="16" name="Shape 14"/>
          <p:cNvSpPr/>
          <p:nvPr/>
        </p:nvSpPr>
        <p:spPr>
          <a:xfrm>
            <a:off x="502920" y="4892040"/>
            <a:ext cx="11183112" cy="1280160"/>
          </a:xfrm>
          <a:prstGeom prst="roundRect">
            <a:avLst>
              <a:gd name="adj" fmla="val 8571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4983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3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קונפליקט הוא לא כישלון תקשורתי</a:t>
            </a:r>
            <a:endParaRPr lang="he-IL" sz="230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4681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700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הוא בלתי נמנע ואף רצוי: מעלה בעיות, מברר עמדות, מפרה ומצמיח. השאלה איננה איך לא לריב — אלא איך לריב נכון.</a:t>
            </a:r>
            <a:endParaRPr lang="he-IL" sz="17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941"/>
          <a:stretch>
            <a:fillRect/>
          </a:stretch>
        </p:blipFill>
        <p:spPr>
          <a:xfrm>
            <a:off x="0" y="28575"/>
            <a:ext cx="12192000" cy="68294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קונפליקטים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</a:t>
            </a:r>
            <a:r>
              <a:rPr lang="en-US" sz="3600" b="1" dirty="0" err="1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</a:t>
            </a: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רבים</a:t>
            </a:r>
            <a:r>
              <a:rPr lang="he-IL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(הגורמים לקונפליקט)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355080" y="1737360"/>
            <a:ext cx="5330952" cy="1261872"/>
          </a:xfrm>
          <a:prstGeom prst="roundRect">
            <a:avLst>
              <a:gd name="adj" fmla="val 652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605016" y="2178537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משאבים</a:t>
            </a:r>
            <a:r>
              <a:rPr lang="en-US" sz="28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he-IL" sz="28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חסך ממשי, </a:t>
            </a:r>
            <a:r>
              <a:rPr lang="en-US" sz="28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חסך</a:t>
            </a:r>
            <a:r>
              <a:rPr lang="en-US" sz="28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יחסי</a:t>
            </a:r>
            <a:r>
              <a:rPr lang="he-IL" sz="28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זהות חברתית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5330952" cy="1261872"/>
          </a:xfrm>
          <a:prstGeom prst="roundRect">
            <a:avLst>
              <a:gd name="adj" fmla="val 652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752856" y="2178537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כוח</a:t>
            </a:r>
            <a:r>
              <a:rPr lang="he-IL" sz="28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(נסיון להשיג, לשמר ולהגדיל כוח)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58952" y="2212848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3154680"/>
            <a:ext cx="5330952" cy="1261872"/>
          </a:xfrm>
          <a:prstGeom prst="roundRect">
            <a:avLst>
              <a:gd name="adj" fmla="val 652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6605016" y="3595857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הוגנות</a:t>
            </a:r>
            <a:r>
              <a:rPr lang="he-IL" sz="28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(תחושת חוסר צדק והוגנות)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11112" y="3630168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5330952" cy="1261872"/>
          </a:xfrm>
          <a:prstGeom prst="roundRect">
            <a:avLst>
              <a:gd name="adj" fmla="val 652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752856" y="3595857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יחסים וצרכים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58952" y="3630168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4572000"/>
            <a:ext cx="5330952" cy="1261872"/>
          </a:xfrm>
          <a:prstGeom prst="roundRect">
            <a:avLst>
              <a:gd name="adj" fmla="val 652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6605016" y="5013177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ערכים</a:t>
            </a:r>
            <a:r>
              <a:rPr lang="he-IL" sz="28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(ערכים סותרים או מנוגדים)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11112" y="5047488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572000"/>
            <a:ext cx="5330952" cy="1261872"/>
          </a:xfrm>
          <a:prstGeom prst="roundRect">
            <a:avLst>
              <a:gd name="adj" fmla="val 6522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752856" y="5013177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לחץ</a:t>
            </a:r>
            <a:r>
              <a:rPr lang="en-US" sz="28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ושינוי</a:t>
            </a:r>
            <a:r>
              <a:rPr lang="he-IL" sz="28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(מדלדלים משאבים)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58952" y="5047488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035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חסך ממשי- רק לאחד יכול להיות, </a:t>
            </a:r>
            <a:r>
              <a:rPr lang="en-US" sz="16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״חסך יחסי״ — לא חוסר ממשי במשאבים, אלא התחושה </a:t>
            </a:r>
            <a:r>
              <a:rPr lang="en-US" sz="1600" b="1" dirty="0" err="1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שיש</a:t>
            </a:r>
            <a:r>
              <a:rPr lang="en-US" sz="16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</a:t>
            </a:r>
            <a:r>
              <a:rPr lang="he-IL" sz="16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זהות חברתית- אני רוצה לדאוג שלקבוצה שלי יהיו משאבים</a:t>
            </a:r>
            <a:r>
              <a:rPr lang="en-US" sz="16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200" b="1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קונפליקטים</a:t>
            </a:r>
            <a:endParaRPr lang="he-IL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b="1" noProof="0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האמיגדלה</a:t>
            </a:r>
            <a:r>
              <a:rPr lang="he-IL" sz="15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מוצפת ·</a:t>
            </a:r>
            <a:endParaRPr lang="he-IL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קורה לנו בגוף</a:t>
            </a:r>
            <a:endParaRPr lang="he-IL" sz="3600" noProof="0" dirty="0"/>
          </a:p>
        </p:txBody>
      </p:sp>
      <p:sp>
        <p:nvSpPr>
          <p:cNvPr id="6" name="Shape 4"/>
          <p:cNvSpPr/>
          <p:nvPr/>
        </p:nvSpPr>
        <p:spPr>
          <a:xfrm>
            <a:off x="8833104" y="178308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7" name="Text 5"/>
          <p:cNvSpPr/>
          <p:nvPr/>
        </p:nvSpPr>
        <p:spPr>
          <a:xfrm>
            <a:off x="8970264" y="1783080"/>
            <a:ext cx="2350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4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התקפה</a:t>
            </a:r>
            <a:endParaRPr lang="he-IL" sz="2400" noProof="0" dirty="0"/>
          </a:p>
        </p:txBody>
      </p:sp>
      <p:sp>
        <p:nvSpPr>
          <p:cNvPr id="8" name="Shape 6"/>
          <p:cNvSpPr/>
          <p:nvPr/>
        </p:nvSpPr>
        <p:spPr>
          <a:xfrm>
            <a:off x="6007608" y="178308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9" name="Text 7"/>
          <p:cNvSpPr/>
          <p:nvPr/>
        </p:nvSpPr>
        <p:spPr>
          <a:xfrm>
            <a:off x="6144768" y="1783080"/>
            <a:ext cx="2350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4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בריחה</a:t>
            </a:r>
            <a:endParaRPr lang="he-IL" sz="2400" noProof="0" dirty="0"/>
          </a:p>
        </p:txBody>
      </p:sp>
      <p:sp>
        <p:nvSpPr>
          <p:cNvPr id="10" name="Shape 8"/>
          <p:cNvSpPr/>
          <p:nvPr/>
        </p:nvSpPr>
        <p:spPr>
          <a:xfrm>
            <a:off x="3182112" y="178308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1" name="Text 9"/>
          <p:cNvSpPr/>
          <p:nvPr/>
        </p:nvSpPr>
        <p:spPr>
          <a:xfrm>
            <a:off x="3319272" y="1783080"/>
            <a:ext cx="2350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4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קיפאון</a:t>
            </a:r>
            <a:endParaRPr lang="he-IL" sz="2400" noProof="0" dirty="0"/>
          </a:p>
        </p:txBody>
      </p:sp>
      <p:sp>
        <p:nvSpPr>
          <p:cNvPr id="12" name="Shape 10"/>
          <p:cNvSpPr/>
          <p:nvPr/>
        </p:nvSpPr>
        <p:spPr>
          <a:xfrm>
            <a:off x="356616" y="1783080"/>
            <a:ext cx="2624328" cy="137160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3" name="Text 11"/>
          <p:cNvSpPr/>
          <p:nvPr/>
        </p:nvSpPr>
        <p:spPr>
          <a:xfrm>
            <a:off x="493776" y="1783080"/>
            <a:ext cx="2350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4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ריצוי</a:t>
            </a:r>
            <a:endParaRPr lang="he-IL" sz="2400" noProof="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11183112" cy="2148840"/>
          </a:xfrm>
          <a:prstGeom prst="roundRect">
            <a:avLst>
              <a:gd name="adj" fmla="val 5106"/>
            </a:avLst>
          </a:prstGeom>
          <a:solidFill>
            <a:srgbClr val="1F2E5C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5" name="Text 13"/>
          <p:cNvSpPr/>
          <p:nvPr/>
        </p:nvSpPr>
        <p:spPr>
          <a:xfrm>
            <a:off x="868680" y="3749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הרווח בין הגירוי לתגובה (וויסות עצמי)</a:t>
            </a:r>
            <a:endParaRPr lang="he-IL" sz="3000" noProof="0" dirty="0"/>
          </a:p>
        </p:txBody>
      </p:sp>
      <p:sp>
        <p:nvSpPr>
          <p:cNvPr id="16" name="Text 14"/>
          <p:cNvSpPr/>
          <p:nvPr/>
        </p:nvSpPr>
        <p:spPr>
          <a:xfrm>
            <a:off x="868680" y="43891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200"/>
              </a:lnSpc>
              <a:buNone/>
            </a:pPr>
            <a:r>
              <a:rPr lang="he-IL" sz="2000" noProof="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עצירה · נשימה · ספירה עד עשר (או דרך אחרת להרחיק בין גירוי לתגובה), בחירה בתגובה הרצויה (בחירה היא מילת מפתח בניגוד למחטף רגשי)</a:t>
            </a:r>
            <a:endParaRPr lang="he-IL" sz="20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קונפליקטים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</a:t>
            </a:r>
            <a:r>
              <a:rPr lang="en-US" sz="15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תומאס-קילמן</a:t>
            </a: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חמשת סגנונות ניהול הקונפליקט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903720" y="164592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דאגה נמוכה לאחר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920240" y="164592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דאגה גבוהה לאחר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1900"/>
              </a:lnSpc>
              <a:buNone/>
            </a:pPr>
            <a:r>
              <a:rPr lang="en-US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דאגה גבוהה</a:t>
            </a:r>
            <a:endParaRPr lang="en-US" b="1" dirty="0">
              <a:solidFill>
                <a:schemeClr val="accent2"/>
              </a:solidFill>
            </a:endParaRPr>
          </a:p>
          <a:p>
            <a:pPr marL="0" indent="0" algn="ctr" rtl="1">
              <a:lnSpc>
                <a:spcPts val="1900"/>
              </a:lnSpc>
              <a:buNone/>
            </a:pPr>
            <a:r>
              <a:rPr lang="en-US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לעצמי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4507992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1900"/>
              </a:lnSpc>
              <a:buNone/>
            </a:pPr>
            <a:r>
              <a:rPr lang="en-US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דאגה נמוכה</a:t>
            </a:r>
            <a:endParaRPr lang="en-US" b="1" dirty="0">
              <a:solidFill>
                <a:schemeClr val="accent2"/>
              </a:solidFill>
            </a:endParaRPr>
          </a:p>
          <a:p>
            <a:pPr marL="0" indent="0" algn="ctr" rtl="1">
              <a:lnSpc>
                <a:spcPts val="1900"/>
              </a:lnSpc>
              <a:buNone/>
            </a:pPr>
            <a:r>
              <a:rPr lang="en-US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לעצמי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03720" y="2029968"/>
            <a:ext cx="4782312" cy="1463040"/>
          </a:xfrm>
          <a:prstGeom prst="roundRect">
            <a:avLst>
              <a:gd name="adj" fmla="val 5625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7132320" y="2167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149840" y="2231136"/>
            <a:ext cx="1325880" cy="365760"/>
          </a:xfrm>
          <a:prstGeom prst="roundRect">
            <a:avLst>
              <a:gd name="adj" fmla="val 47500"/>
            </a:avLst>
          </a:prstGeom>
          <a:solidFill>
            <a:srgbClr val="E266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10195560" y="22311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Win–Lose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27157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חירום</a:t>
            </a:r>
            <a:r>
              <a:rPr lang="he-IL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או רצון עז לנצח</a:t>
            </a: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ערכי ליבה · קשר חד-פעמי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920240" y="2029968"/>
            <a:ext cx="4782312" cy="1463040"/>
          </a:xfrm>
          <a:prstGeom prst="roundRect">
            <a:avLst>
              <a:gd name="adj" fmla="val 5625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2148840" y="2167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שיתוף פעולה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66360" y="2231136"/>
            <a:ext cx="1325880" cy="365760"/>
          </a:xfrm>
          <a:prstGeom prst="roundRect">
            <a:avLst>
              <a:gd name="adj" fmla="val 47500"/>
            </a:avLst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5212080" y="22311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Win–Win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27157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הנושאים הגדולים · </a:t>
            </a:r>
            <a:r>
              <a:rPr lang="en-US" sz="15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יחסים</a:t>
            </a: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מתמשכים</a:t>
            </a:r>
            <a:r>
              <a:rPr lang="he-IL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תוצר טוב יותר ממה שכל צד היה משיג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03720" y="4507992"/>
            <a:ext cx="4782312" cy="1463040"/>
          </a:xfrm>
          <a:prstGeom prst="roundRect">
            <a:avLst>
              <a:gd name="adj" fmla="val 5625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7132320" y="4645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הימנעות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149840" y="4709160"/>
            <a:ext cx="1325880" cy="365760"/>
          </a:xfrm>
          <a:prstGeom prst="roundRect">
            <a:avLst>
              <a:gd name="adj" fmla="val 47500"/>
            </a:avLst>
          </a:prstGeom>
          <a:solidFill>
            <a:srgbClr val="76809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10195560" y="4709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Lose–Lose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519379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נושא שולי · </a:t>
            </a:r>
            <a:r>
              <a:rPr lang="he-IL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מעוניין להכנס לקונפליקט או </a:t>
            </a:r>
            <a:r>
              <a:rPr lang="en-US" sz="15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פסק</a:t>
            </a: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זמן </a:t>
            </a:r>
            <a:r>
              <a:rPr lang="en-US" sz="15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</a:t>
            </a: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התפוצצות</a:t>
            </a:r>
            <a:r>
              <a:rPr lang="he-IL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920240" y="4507992"/>
            <a:ext cx="4782312" cy="1463040"/>
          </a:xfrm>
          <a:prstGeom prst="roundRect">
            <a:avLst>
              <a:gd name="adj" fmla="val 5625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2148840" y="4645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ויתור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166360" y="4709160"/>
            <a:ext cx="1325880" cy="365760"/>
          </a:xfrm>
          <a:prstGeom prst="roundRect">
            <a:avLst>
              <a:gd name="adj" fmla="val 47500"/>
            </a:avLst>
          </a:prstGeom>
          <a:solidFill>
            <a:srgbClr val="C9973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5212080" y="4709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Lose–Win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48840" y="519379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טעיתי · הנושא לא </a:t>
            </a:r>
            <a:r>
              <a:rPr lang="en-US" sz="15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חשוב</a:t>
            </a: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</a:t>
            </a:r>
            <a:r>
              <a:rPr lang="he-IL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או היחסים חשובים לי יותר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654296" y="3611880"/>
            <a:ext cx="4297680" cy="777240"/>
          </a:xfrm>
          <a:prstGeom prst="roundRect">
            <a:avLst>
              <a:gd name="adj" fmla="val 49412"/>
            </a:avLst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4791456" y="36118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פשרה  ·  חצי-חצי  ·  לחץ זמן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2920" y="610819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סגנון אחד נכון. זה סגנון, לא אופי — והמיומנות היא לבחור את הכלי הנכון לקרב.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קונפליקטים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פשרה מול שיתוף פעולה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355080" y="1737360"/>
            <a:ext cx="5330952" cy="1600200"/>
          </a:xfrm>
          <a:prstGeom prst="roundRect">
            <a:avLst>
              <a:gd name="adj" fmla="val 514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62940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פשרה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29400" y="2359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מחלקים את העוגה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788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אחד יוצא עם חצי תאוותו בידו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5330952" cy="1600200"/>
          </a:xfrm>
          <a:prstGeom prst="roundRect">
            <a:avLst>
              <a:gd name="adj" fmla="val 514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שיתוף פעולה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2359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מגדילים את העוגה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הצדדים </a:t>
            </a:r>
            <a:r>
              <a:rPr lang="en-US" sz="15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יוצאים</a:t>
            </a: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מרוצים</a:t>
            </a:r>
            <a:r>
              <a:rPr lang="he-IL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והתוצר טוב מסך הרצונות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3520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ואיך עוברים משם לשם? מעמדות לאינטרסים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55080" y="4069080"/>
            <a:ext cx="5330952" cy="1600200"/>
          </a:xfrm>
          <a:prstGeom prst="roundRect">
            <a:avLst>
              <a:gd name="adj" fmla="val 5143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6629400" y="4187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עמדה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732520" y="4233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אני רוצה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4645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״אני רוצה את החלון פתוח״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5120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רק להתפשר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069080"/>
            <a:ext cx="5330952" cy="1600200"/>
          </a:xfrm>
          <a:prstGeom prst="roundRect">
            <a:avLst>
              <a:gd name="adj" fmla="val 5143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777240" y="4187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אינטרס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880360" y="4233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אני רוצה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645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״חם לי, אני צריך אוויר״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5120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להמציא פתרון חדש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58521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ולהפריד בין האדם לבעיה: </a:t>
            </a:r>
            <a:r>
              <a:rPr lang="he-IL" sz="17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לא "אתה לא בסדר" אלא: בוא נפתור בעיה- </a:t>
            </a:r>
            <a:r>
              <a:rPr lang="en-US" sz="1700" b="1" dirty="0" err="1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שנינו</a:t>
            </a:r>
            <a:r>
              <a:rPr lang="en-US" sz="17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באותו צד של השולחן, והבעיה מולנו.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שיחות קשות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סטון, פאטון והין · פרויקט המשא ומתן של הרווארד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שלוש השיחות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001000" y="1783080"/>
            <a:ext cx="3657600" cy="3108960"/>
          </a:xfrm>
          <a:prstGeom prst="roundRect">
            <a:avLst>
              <a:gd name="adj" fmla="val 264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9509760" y="1965960"/>
            <a:ext cx="640080" cy="640080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5097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8388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שיחת העובדות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8388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״מה קרה״ — קצה הקרחון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83880" y="3657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הנחות מגבילות:</a:t>
            </a:r>
            <a:endParaRPr lang="en-US" sz="1400" dirty="0"/>
          </a:p>
          <a:p>
            <a:pPr marL="0" indent="0" algn="ctr" rtl="1">
              <a:lnSpc>
                <a:spcPts val="21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האמת האחת · הכוונות · האשמה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1783080"/>
            <a:ext cx="3657600" cy="3108960"/>
          </a:xfrm>
          <a:prstGeom prst="roundRect">
            <a:avLst>
              <a:gd name="adj" fmla="val 264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5760720" y="1965960"/>
            <a:ext cx="640080" cy="64008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57607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3484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שיחת הרגשות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3484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5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גורם לנו להרגיש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34840" y="3657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ההנחה המגבילה:</a:t>
            </a:r>
            <a:endParaRPr lang="en-US" sz="1400" dirty="0"/>
          </a:p>
          <a:p>
            <a:pPr marL="0" indent="0" algn="ctr" rtl="1">
              <a:lnSpc>
                <a:spcPts val="21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״רגשות נשארים בבית״ — הם לא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1783080"/>
            <a:ext cx="3657600" cy="3108960"/>
          </a:xfrm>
          <a:prstGeom prst="roundRect">
            <a:avLst>
              <a:gd name="adj" fmla="val 264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2011680" y="1965960"/>
            <a:ext cx="640080" cy="640080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20116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580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שיחת הזהות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</a:t>
            </a:r>
            <a:r>
              <a:rPr lang="en-US" sz="15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אומר</a:t>
            </a: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עליי</a:t>
            </a:r>
            <a:r>
              <a:rPr lang="he-IL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(או מאיים עלי)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3657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ההנחה המגבילה:</a:t>
            </a:r>
            <a:endParaRPr lang="en-US" sz="1400" dirty="0"/>
          </a:p>
          <a:p>
            <a:pPr marL="0" indent="0" algn="ctr" rtl="1">
              <a:lnSpc>
                <a:spcPts val="21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״עדיף לא להיכנס </a:t>
            </a:r>
            <a:r>
              <a:rPr lang="en-US" sz="14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לזה</a:t>
            </a: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בכלל</a:t>
            </a:r>
            <a:r>
              <a:rPr lang="he-IL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כדי לא להפגע</a:t>
            </a: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5120640"/>
            <a:ext cx="11183112" cy="1143000"/>
          </a:xfrm>
          <a:prstGeom prst="roundRect">
            <a:avLst>
              <a:gd name="adj" fmla="val 9600"/>
            </a:avLst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שיחת הלמידה · הסיפור </a:t>
            </a:r>
            <a:r>
              <a:rPr lang="en-US" sz="2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השלישי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בונים את הסיפור המשותף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he-IL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מחפשים </a:t>
            </a:r>
            <a:r>
              <a:rPr lang="en-US" sz="2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תרומה</a:t>
            </a:r>
            <a:r>
              <a:rPr lang="he-IL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(של כל צד)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במקום אשמה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נכנסים כדי ללמוד, </a:t>
            </a:r>
            <a:r>
              <a:rPr lang="he-IL" sz="16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</a:t>
            </a:r>
            <a:r>
              <a:rPr lang="en-US" sz="16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כדי להוכיח. אני מביא את הסיפור שלי, אתה את שלך — ויחד בונים את התמונה המשותפת.</a:t>
            </a:r>
            <a:endParaRPr lang="en-US" sz="1600" dirty="0"/>
          </a:p>
        </p:txBody>
      </p:sp>
      <p:grpSp>
        <p:nvGrpSpPr>
          <p:cNvPr id="27" name="Diagram 2">
            <a:extLst>
              <a:ext uri="{FF2B5EF4-FFF2-40B4-BE49-F238E27FC236}">
                <a16:creationId xmlns:a16="http://schemas.microsoft.com/office/drawing/2014/main" id="{7C8261C5-2BAA-00DD-9CB6-DAF83DD9578A}"/>
              </a:ext>
            </a:extLst>
          </p:cNvPr>
          <p:cNvGrpSpPr>
            <a:grpSpLocks/>
          </p:cNvGrpSpPr>
          <p:nvPr/>
        </p:nvGrpSpPr>
        <p:grpSpPr bwMode="auto">
          <a:xfrm>
            <a:off x="10511160" y="6858000"/>
            <a:ext cx="3712839" cy="2286000"/>
            <a:chOff x="489" y="786"/>
            <a:chExt cx="4736" cy="2694"/>
          </a:xfrm>
        </p:grpSpPr>
        <p:sp>
          <p:nvSpPr>
            <p:cNvPr id="28" name="_s2052">
              <a:extLst>
                <a:ext uri="{FF2B5EF4-FFF2-40B4-BE49-F238E27FC236}">
                  <a16:creationId xmlns:a16="http://schemas.microsoft.com/office/drawing/2014/main" id="{D5F1F6AD-D291-1DEE-9DD5-1528AA5D27AE}"/>
                </a:ext>
              </a:extLst>
            </p:cNvPr>
            <p:cNvSpPr>
              <a:spLocks noChangeArrowheads="1" noTextEdit="1"/>
            </p:cNvSpPr>
            <p:nvPr/>
          </p:nvSpPr>
          <p:spPr bwMode="auto">
            <a:xfrm>
              <a:off x="2352" y="1244"/>
              <a:ext cx="1011" cy="1011"/>
            </a:xfrm>
            <a:prstGeom prst="ellipse">
              <a:avLst/>
            </a:prstGeom>
            <a:solidFill>
              <a:srgbClr val="0399FF">
                <a:alpha val="50195"/>
              </a:srgbClr>
            </a:solidFill>
            <a:ln w="9525">
              <a:solidFill>
                <a:srgbClr val="4B595B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r" defTabSz="121917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_s2053">
              <a:extLst>
                <a:ext uri="{FF2B5EF4-FFF2-40B4-BE49-F238E27FC236}">
                  <a16:creationId xmlns:a16="http://schemas.microsoft.com/office/drawing/2014/main" id="{01FA59D8-588E-207A-0E56-F80E7B836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91"/>
              <a:ext cx="1022" cy="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lvl1pPr algn="l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l" rtl="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l" rtl="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l" rtl="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l" rtl="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121917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altLang="he-IL" sz="373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Noto Sans Hebrew" pitchFamily="2" charset="-79"/>
                  <a:ea typeface="Arial Unicode MS" pitchFamily="34" charset="-128"/>
                  <a:cs typeface="Noto Sans Hebrew" pitchFamily="2" charset="-79"/>
                </a:rPr>
                <a:t>שיחת הזהות </a:t>
              </a:r>
              <a:endParaRPr kumimoji="0" lang="en-US" altLang="he-IL" sz="373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Noto Sans Hebrew" pitchFamily="2" charset="-79"/>
                <a:ea typeface="Arial Unicode MS" pitchFamily="34" charset="-128"/>
                <a:cs typeface="Noto Sans Hebrew" pitchFamily="2" charset="-79"/>
              </a:endParaRPr>
            </a:p>
          </p:txBody>
        </p:sp>
        <p:sp>
          <p:nvSpPr>
            <p:cNvPr id="30" name="_s2054">
              <a:extLst>
                <a:ext uri="{FF2B5EF4-FFF2-40B4-BE49-F238E27FC236}">
                  <a16:creationId xmlns:a16="http://schemas.microsoft.com/office/drawing/2014/main" id="{CD3A417A-11D5-AF1E-A3C9-C69C3B6E9292}"/>
                </a:ext>
              </a:extLst>
            </p:cNvPr>
            <p:cNvSpPr>
              <a:spLocks noChangeArrowheads="1" noTextEdit="1"/>
            </p:cNvSpPr>
            <p:nvPr/>
          </p:nvSpPr>
          <p:spPr bwMode="auto">
            <a:xfrm>
              <a:off x="2684" y="1819"/>
              <a:ext cx="1011" cy="1011"/>
            </a:xfrm>
            <a:prstGeom prst="ellipse">
              <a:avLst/>
            </a:prstGeom>
            <a:solidFill>
              <a:srgbClr val="F60802">
                <a:alpha val="50195"/>
              </a:srgbClr>
            </a:solidFill>
            <a:ln w="9525">
              <a:solidFill>
                <a:srgbClr val="F60802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r" defTabSz="121917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_s2055">
              <a:extLst>
                <a:ext uri="{FF2B5EF4-FFF2-40B4-BE49-F238E27FC236}">
                  <a16:creationId xmlns:a16="http://schemas.microsoft.com/office/drawing/2014/main" id="{7E103E79-99C3-F681-D845-BCBED0659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" y="2627"/>
              <a:ext cx="101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121917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altLang="he-IL" sz="3733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Noto Sans Hebrew" pitchFamily="2" charset="-79"/>
                  <a:ea typeface="MS Mincho" pitchFamily="49" charset="-128"/>
                  <a:cs typeface="Noto Sans Hebrew" pitchFamily="2" charset="-79"/>
                </a:rPr>
                <a:t>שיחת העובדות </a:t>
              </a:r>
            </a:p>
            <a:p>
              <a:pPr marL="0" marR="0" lvl="0" indent="0" algn="ctr" defTabSz="121917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altLang="he-IL" sz="3733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Noto Sans Hebrew" pitchFamily="2" charset="-79"/>
                  <a:ea typeface="MS Mincho" pitchFamily="49" charset="-128"/>
                  <a:cs typeface="Noto Sans Hebrew" pitchFamily="2" charset="-79"/>
                </a:rPr>
                <a:t>המה קרה?</a:t>
              </a:r>
              <a:endParaRPr kumimoji="0" lang="en-US" altLang="he-IL" sz="3733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 Hebrew" pitchFamily="2" charset="-79"/>
                <a:ea typeface="MS Mincho" pitchFamily="49" charset="-128"/>
                <a:cs typeface="Noto Sans Hebrew" pitchFamily="2" charset="-79"/>
              </a:endParaRPr>
            </a:p>
          </p:txBody>
        </p:sp>
        <p:sp>
          <p:nvSpPr>
            <p:cNvPr id="32" name="_s2056">
              <a:extLst>
                <a:ext uri="{FF2B5EF4-FFF2-40B4-BE49-F238E27FC236}">
                  <a16:creationId xmlns:a16="http://schemas.microsoft.com/office/drawing/2014/main" id="{E1E69EFB-A71B-2370-E5CC-51265EB047C2}"/>
                </a:ext>
              </a:extLst>
            </p:cNvPr>
            <p:cNvSpPr>
              <a:spLocks noChangeArrowheads="1" noTextEdit="1"/>
            </p:cNvSpPr>
            <p:nvPr/>
          </p:nvSpPr>
          <p:spPr bwMode="auto">
            <a:xfrm>
              <a:off x="2020" y="1820"/>
              <a:ext cx="1011" cy="1011"/>
            </a:xfrm>
            <a:prstGeom prst="ellipse">
              <a:avLst/>
            </a:prstGeom>
            <a:solidFill>
              <a:srgbClr val="F1FD09">
                <a:alpha val="50195"/>
              </a:srgbClr>
            </a:solidFill>
            <a:ln w="9525">
              <a:solidFill>
                <a:srgbClr val="F1FD09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r" defTabSz="121917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_s2057">
              <a:extLst>
                <a:ext uri="{FF2B5EF4-FFF2-40B4-BE49-F238E27FC236}">
                  <a16:creationId xmlns:a16="http://schemas.microsoft.com/office/drawing/2014/main" id="{D4231549-72F5-F174-ADC3-D39CC5311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" y="2628"/>
              <a:ext cx="1011" cy="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lvl1pPr algn="l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l" rtl="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l" rtl="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l" rtl="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l" rtl="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121917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altLang="he-IL" sz="373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Noto Sans Hebrew" pitchFamily="2" charset="-79"/>
                  <a:ea typeface="Arial Unicode MS" pitchFamily="34" charset="-128"/>
                  <a:cs typeface="Noto Sans Hebrew" pitchFamily="2" charset="-79"/>
                </a:rPr>
                <a:t>שיחת הרגשות </a:t>
              </a:r>
              <a:endParaRPr kumimoji="0" lang="en-US" altLang="he-IL" sz="373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Noto Sans Hebrew" pitchFamily="2" charset="-79"/>
                <a:ea typeface="Arial Unicode MS" pitchFamily="34" charset="-128"/>
                <a:cs typeface="Noto Sans Hebrew" pitchFamily="2" charset="-79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4B05-B846-4541-965B-29243C9D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Noto Sans Hebrew" pitchFamily="2" charset="-79"/>
                <a:cs typeface="Noto Sans Hebrew" pitchFamily="2" charset="-79"/>
              </a:rPr>
              <a:t>שיחת הלמידה</a:t>
            </a:r>
            <a:endParaRPr lang="en-US" dirty="0">
              <a:latin typeface="Noto Sans Hebrew" pitchFamily="2" charset="-79"/>
              <a:cs typeface="Noto Sans Hebrew" pitchFamily="2" charset="-79"/>
            </a:endParaRPr>
          </a:p>
        </p:txBody>
      </p:sp>
      <p:sp>
        <p:nvSpPr>
          <p:cNvPr id="4710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he-IL" altLang="he-IL" sz="2800" dirty="0">
                <a:latin typeface="Noto Sans Hebrew" pitchFamily="2" charset="-79"/>
                <a:cs typeface="Noto Sans Hebrew" pitchFamily="2" charset="-79"/>
              </a:rPr>
              <a:t>בכדי להתמודד עם קונפליקט יש לעבור מ"אני במרכז" לשיחת הלמידה ולנתח את הקונפליקט ב</a:t>
            </a:r>
            <a:r>
              <a:rPr lang="he-IL" altLang="he-IL" sz="2800" b="1" dirty="0">
                <a:solidFill>
                  <a:srgbClr val="C00000"/>
                </a:solidFill>
                <a:latin typeface="Noto Sans Hebrew" pitchFamily="2" charset="-79"/>
                <a:cs typeface="Noto Sans Hebrew" pitchFamily="2" charset="-79"/>
              </a:rPr>
              <a:t>שלושת </a:t>
            </a:r>
            <a:r>
              <a:rPr lang="he-IL" altLang="he-IL" sz="2800" dirty="0">
                <a:latin typeface="Noto Sans Hebrew" pitchFamily="2" charset="-79"/>
                <a:cs typeface="Noto Sans Hebrew" pitchFamily="2" charset="-79"/>
              </a:rPr>
              <a:t>הרמות ומשני הצדדים:</a:t>
            </a:r>
          </a:p>
          <a:p>
            <a:pPr marL="552437" lvl="1" indent="-373054">
              <a:lnSpc>
                <a:spcPct val="135000"/>
              </a:lnSpc>
              <a:buBlip>
                <a:blip r:embed="rId2"/>
              </a:buBlip>
              <a:defRPr/>
            </a:pPr>
            <a:r>
              <a:rPr lang="he-IL" altLang="he-IL" b="1" dirty="0">
                <a:latin typeface="Noto Sans Hebrew" pitchFamily="2" charset="-79"/>
                <a:cs typeface="Noto Sans Hebrew" pitchFamily="2" charset="-79"/>
              </a:rPr>
              <a:t>"מה קרה?" </a:t>
            </a:r>
            <a:r>
              <a:rPr lang="he-IL" altLang="he-IL" dirty="0">
                <a:latin typeface="Noto Sans Hebrew" pitchFamily="2" charset="-79"/>
                <a:cs typeface="Noto Sans Hebrew" pitchFamily="2" charset="-79"/>
              </a:rPr>
              <a:t>לנתח מה גרם למצב (ולא מי אשם), להבין את נקודת מבט האחר ולהסביר את הצד שלכם</a:t>
            </a:r>
          </a:p>
          <a:p>
            <a:pPr marL="552437" lvl="1" indent="-373054">
              <a:lnSpc>
                <a:spcPct val="135000"/>
              </a:lnSpc>
              <a:buBlip>
                <a:blip r:embed="rId2"/>
              </a:buBlip>
              <a:defRPr/>
            </a:pPr>
            <a:r>
              <a:rPr lang="he-IL" altLang="he-IL" b="1" dirty="0">
                <a:latin typeface="Noto Sans Hebrew" pitchFamily="2" charset="-79"/>
                <a:cs typeface="Noto Sans Hebrew" pitchFamily="2" charset="-79"/>
              </a:rPr>
              <a:t>הרגשות: </a:t>
            </a:r>
            <a:r>
              <a:rPr lang="he-IL" altLang="he-IL" dirty="0">
                <a:latin typeface="Noto Sans Hebrew" pitchFamily="2" charset="-79"/>
                <a:cs typeface="Noto Sans Hebrew" pitchFamily="2" charset="-79"/>
              </a:rPr>
              <a:t>להתייחס ו לרגשות שני הצדדים</a:t>
            </a:r>
          </a:p>
          <a:p>
            <a:pPr marL="552437" lvl="1" indent="-373054">
              <a:lnSpc>
                <a:spcPct val="135000"/>
              </a:lnSpc>
              <a:buBlip>
                <a:blip r:embed="rId2"/>
              </a:buBlip>
              <a:defRPr/>
            </a:pPr>
            <a:r>
              <a:rPr lang="he-IL" altLang="he-IL" b="1" dirty="0">
                <a:latin typeface="Noto Sans Hebrew" pitchFamily="2" charset="-79"/>
                <a:cs typeface="Noto Sans Hebrew" pitchFamily="2" charset="-79"/>
              </a:rPr>
              <a:t>הזהות: </a:t>
            </a:r>
            <a:r>
              <a:rPr lang="he-IL" altLang="he-IL" dirty="0">
                <a:latin typeface="Noto Sans Hebrew" pitchFamily="2" charset="-79"/>
                <a:cs typeface="Noto Sans Hebrew" pitchFamily="2" charset="-79"/>
              </a:rPr>
              <a:t>לברר ממה כל צד חושש ולמצא את האיזון</a:t>
            </a:r>
          </a:p>
          <a:p>
            <a:pPr marL="179383" lvl="1" indent="0">
              <a:lnSpc>
                <a:spcPct val="135000"/>
              </a:lnSpc>
              <a:buNone/>
              <a:defRPr/>
            </a:pPr>
            <a:endParaRPr lang="he-IL" altLang="he-IL" dirty="0">
              <a:latin typeface="Noto Sans Hebrew" pitchFamily="2" charset="-79"/>
              <a:cs typeface="Noto Sans Hebrew" pitchFamily="2" charset="-79"/>
            </a:endParaRP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406" y="5454442"/>
            <a:ext cx="1281227" cy="967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6078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23425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200" b="1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שיחות קשות</a:t>
            </a:r>
            <a:endParaRPr lang="he-IL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מרשל רוזנברג · </a:t>
            </a:r>
            <a:r>
              <a:rPr lang="en-US" sz="15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NVC</a:t>
            </a:r>
            <a:r>
              <a:rPr lang="he-IL" sz="15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המוקד: צרכים</a:t>
            </a:r>
            <a:endParaRPr lang="he-IL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מקרבת</a:t>
            </a:r>
            <a:endParaRPr lang="he-IL" sz="36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ארבעת שלבי המשפט</a:t>
            </a:r>
            <a:endParaRPr lang="he-IL" sz="1900" noProof="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11155680" cy="768096"/>
          </a:xfrm>
          <a:prstGeom prst="roundRect">
            <a:avLst>
              <a:gd name="adj" fmla="val 10714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8" name="Shape 6"/>
          <p:cNvSpPr/>
          <p:nvPr/>
        </p:nvSpPr>
        <p:spPr>
          <a:xfrm>
            <a:off x="11018520" y="2322576"/>
            <a:ext cx="512064" cy="512064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9" name="Text 7"/>
          <p:cNvSpPr/>
          <p:nvPr/>
        </p:nvSpPr>
        <p:spPr>
          <a:xfrm>
            <a:off x="11018520" y="2322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9098280" y="2194560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8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התבוננות</a:t>
            </a:r>
            <a:endParaRPr lang="he-IL" sz="1800" noProof="0" dirty="0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ראיתי, בעובדות, בלי שיפוט</a:t>
            </a:r>
            <a:endParaRPr lang="he-IL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i="1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״כשהגעת לפגישה באיחור ובלי חומר מוכן…״</a:t>
            </a:r>
            <a:endParaRPr lang="he-IL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3090672"/>
            <a:ext cx="11155680" cy="768096"/>
          </a:xfrm>
          <a:prstGeom prst="roundRect">
            <a:avLst>
              <a:gd name="adj" fmla="val 10714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4" name="Shape 12"/>
          <p:cNvSpPr/>
          <p:nvPr/>
        </p:nvSpPr>
        <p:spPr>
          <a:xfrm>
            <a:off x="11018520" y="3218688"/>
            <a:ext cx="512064" cy="512064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5" name="Text 13"/>
          <p:cNvSpPr/>
          <p:nvPr/>
        </p:nvSpPr>
        <p:spPr>
          <a:xfrm>
            <a:off x="11018520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9098280" y="309067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8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רגש</a:t>
            </a:r>
            <a:endParaRPr lang="he-IL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6537960" y="3090672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עושה לי</a:t>
            </a:r>
            <a:endParaRPr lang="he-IL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3090672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i="1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״…אני מרגישה לחץ ודאגה…״</a:t>
            </a:r>
            <a:endParaRPr lang="he-IL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502920" y="3986784"/>
            <a:ext cx="11155680" cy="768096"/>
          </a:xfrm>
          <a:prstGeom prst="roundRect">
            <a:avLst>
              <a:gd name="adj" fmla="val 10714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0" name="Shape 18"/>
          <p:cNvSpPr/>
          <p:nvPr/>
        </p:nvSpPr>
        <p:spPr>
          <a:xfrm>
            <a:off x="11018520" y="4114800"/>
            <a:ext cx="512064" cy="512064"/>
          </a:xfrm>
          <a:prstGeom prst="ellipse">
            <a:avLst/>
          </a:prstGeom>
          <a:solidFill>
            <a:srgbClr val="C9973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1" name="Text 19"/>
          <p:cNvSpPr/>
          <p:nvPr/>
        </p:nvSpPr>
        <p:spPr>
          <a:xfrm>
            <a:off x="11018520" y="4114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9098280" y="3986784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8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צורך</a:t>
            </a:r>
            <a:endParaRPr lang="he-IL" sz="1800" noProof="0" dirty="0"/>
          </a:p>
        </p:txBody>
      </p:sp>
      <p:sp>
        <p:nvSpPr>
          <p:cNvPr id="23" name="Text 21"/>
          <p:cNvSpPr/>
          <p:nvPr/>
        </p:nvSpPr>
        <p:spPr>
          <a:xfrm>
            <a:off x="6537960" y="3986784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חשוב לי</a:t>
            </a:r>
            <a:endParaRPr lang="he-IL" sz="1400" noProof="0" dirty="0"/>
          </a:p>
        </p:txBody>
      </p:sp>
      <p:sp>
        <p:nvSpPr>
          <p:cNvPr id="24" name="Text 22"/>
          <p:cNvSpPr/>
          <p:nvPr/>
        </p:nvSpPr>
        <p:spPr>
          <a:xfrm>
            <a:off x="777240" y="3986784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i="1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״…כי זה לקוח שאנחנו מטפחים הרבה זמן ואנחנו צריכים לשמר אותו…״</a:t>
            </a:r>
            <a:endParaRPr lang="he-IL" sz="1400" noProof="0" dirty="0"/>
          </a:p>
        </p:txBody>
      </p:sp>
      <p:sp>
        <p:nvSpPr>
          <p:cNvPr id="25" name="Shape 23"/>
          <p:cNvSpPr/>
          <p:nvPr/>
        </p:nvSpPr>
        <p:spPr>
          <a:xfrm>
            <a:off x="502920" y="4882896"/>
            <a:ext cx="11155680" cy="768096"/>
          </a:xfrm>
          <a:prstGeom prst="roundRect">
            <a:avLst>
              <a:gd name="adj" fmla="val 10714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6" name="Shape 24"/>
          <p:cNvSpPr/>
          <p:nvPr/>
        </p:nvSpPr>
        <p:spPr>
          <a:xfrm>
            <a:off x="11018520" y="5010912"/>
            <a:ext cx="512064" cy="512064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7" name="Text 25"/>
          <p:cNvSpPr/>
          <p:nvPr/>
        </p:nvSpPr>
        <p:spPr>
          <a:xfrm>
            <a:off x="11018520" y="5010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2000" noProof="0" dirty="0"/>
          </a:p>
        </p:txBody>
      </p:sp>
      <p:sp>
        <p:nvSpPr>
          <p:cNvPr id="28" name="Text 26"/>
          <p:cNvSpPr/>
          <p:nvPr/>
        </p:nvSpPr>
        <p:spPr>
          <a:xfrm>
            <a:off x="9098280" y="4882896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8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בקשה ספציפית</a:t>
            </a:r>
            <a:endParaRPr lang="he-IL" sz="1800" noProof="0" dirty="0"/>
          </a:p>
        </p:txBody>
      </p:sp>
      <p:sp>
        <p:nvSpPr>
          <p:cNvPr id="29" name="Text 27"/>
          <p:cNvSpPr/>
          <p:nvPr/>
        </p:nvSpPr>
        <p:spPr>
          <a:xfrm>
            <a:off x="6537960" y="4882896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הלאה — בקשה, לא דרישה</a:t>
            </a:r>
            <a:endParaRPr lang="he-IL" sz="1400" noProof="0" dirty="0"/>
          </a:p>
        </p:txBody>
      </p:sp>
      <p:sp>
        <p:nvSpPr>
          <p:cNvPr id="30" name="Text 28"/>
          <p:cNvSpPr/>
          <p:nvPr/>
        </p:nvSpPr>
        <p:spPr>
          <a:xfrm>
            <a:off x="777240" y="4882896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i="1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״…לכם אני צריכה שתודיע לי מראש את מצבך ומה אתה צריך ממני?״</a:t>
            </a:r>
            <a:endParaRPr lang="he-IL" sz="1400" noProof="0" dirty="0"/>
          </a:p>
        </p:txBody>
      </p:sp>
      <p:sp>
        <p:nvSpPr>
          <p:cNvPr id="31" name="Shape 29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32" name="Text 30"/>
          <p:cNvSpPr/>
          <p:nvPr/>
        </p:nvSpPr>
        <p:spPr>
          <a:xfrm>
            <a:off x="73152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רגשות הם מדד לצרכים · שפה מקרבת מול מקריבה · לדבר בלשון ״אני״ ולבקש ספציפית.</a:t>
            </a:r>
            <a:endParaRPr lang="he-IL" sz="1500" noProof="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34467F">
              <a:alpha val="4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8138160" y="9601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ד׳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צוות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19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שלבים · תפקידים · החלטות · משוב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98348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60120" y="4983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defTabSz="914400" rtl="0" eaLnBrk="1" latinLnBrk="0" hangingPunct="1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צוות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מול צוות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355080" y="1737360"/>
            <a:ext cx="5330952" cy="1965960"/>
          </a:xfrm>
          <a:prstGeom prst="roundRect">
            <a:avLst>
              <a:gd name="adj" fmla="val 4186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62940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62940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</a:t>
            </a:r>
            <a:r>
              <a:rPr lang="he-IL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אנשים</a:t>
            </a: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אינטראקציה חוזרת · מטרה משותפת · תלות כלשהי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3017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5330952" cy="1965960"/>
          </a:xfrm>
          <a:prstGeom prst="roundRect">
            <a:avLst>
              <a:gd name="adj" fmla="val 4186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קבוצה שהוקמה למשימה מוגדרת, עם תלות </a:t>
            </a: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הדדית</a:t>
            </a: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גבוהה</a:t>
            </a:r>
            <a:r>
              <a:rPr lang="he-IL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(יש יותר מגע, קשורים יותר, עושים יותר דברים יחד)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39136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מרכיבים מגדירים צוות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01000" y="438912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822960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משאבים משלימים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0" y="49560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נגד האינסטינקט: אנחנו בוחרים דומים, וצוות צריך השלמה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51960" y="438912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448056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אחריות משותפת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480560" y="49560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כולם נושאים בתוצאה, לא רק המנהל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38912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זהות קולקטיבית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" y="49560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הצוות תופס את עצמו כ״אנחנו״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צוות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צוותים לא נולדים — הם מתפתחים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ארבעת שלבי טאקמן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052560" y="1783080"/>
            <a:ext cx="2633472" cy="2286000"/>
          </a:xfrm>
          <a:prstGeom prst="roundRect">
            <a:avLst>
              <a:gd name="adj" fmla="val 36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9189720" y="193852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גיבוש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89720" y="24231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89720" y="288036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נימוס, אי-ודאות</a:t>
            </a:r>
            <a:endParaRPr lang="en-US" sz="1500" dirty="0"/>
          </a:p>
          <a:p>
            <a:pPr marL="0" indent="0" algn="ct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תפוקה כמעט אפס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2633472" cy="2286000"/>
          </a:xfrm>
          <a:prstGeom prst="roundRect">
            <a:avLst>
              <a:gd name="adj" fmla="val 36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6336792" y="193852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סערה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36792" y="24231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36792" y="288036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מאבקי כוח</a:t>
            </a:r>
            <a:endParaRPr lang="en-US" sz="1500" dirty="0"/>
          </a:p>
          <a:p>
            <a:pPr marL="0" indent="0" algn="ct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וויכוחים על תפקידים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46704" y="1783080"/>
            <a:ext cx="2633472" cy="2286000"/>
          </a:xfrm>
          <a:prstGeom prst="roundRect">
            <a:avLst>
              <a:gd name="adj" fmla="val 36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3483864" y="193852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נורמות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83864" y="24231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83864" y="288036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 עבודה</a:t>
            </a:r>
            <a:endParaRPr lang="en-US" sz="1500" dirty="0"/>
          </a:p>
          <a:p>
            <a:pPr marL="0" indent="0" algn="ct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חלוקת תפקידים, אמון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1783080"/>
            <a:ext cx="2633472" cy="2286000"/>
          </a:xfrm>
          <a:prstGeom prst="roundRect">
            <a:avLst>
              <a:gd name="adj" fmla="val 36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640080" y="193852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24231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2880360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זרימה</a:t>
            </a:r>
            <a:endParaRPr lang="en-US" sz="1500" dirty="0"/>
          </a:p>
          <a:p>
            <a:pPr marL="0" indent="0" algn="ct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וסינרגיה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92440" y="2697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DC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39512" y="2697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DC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86584" y="2697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DC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920" y="4343400"/>
            <a:ext cx="11183112" cy="1600200"/>
          </a:xfrm>
          <a:prstGeom prst="roundRect">
            <a:avLst>
              <a:gd name="adj" fmla="val 6857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868680" y="44805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 הסערה אסור לעקוף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68680" y="5029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שלא עובר אותה — כי כולם מחייכים ומהנהנים — לעולם לא יגיע לביצוע.</a:t>
            </a:r>
            <a:endParaRPr lang="en-US" sz="1700" dirty="0"/>
          </a:p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בסערה מבררים ציפיות, לומדים חוזקות וחולשות, וקובעים גבולות.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צוות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מטאפורת הרכב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תפקידים תקשורתיים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355080" y="1691640"/>
            <a:ext cx="5330952" cy="1645920"/>
          </a:xfrm>
          <a:prstGeom prst="roundRect">
            <a:avLst>
              <a:gd name="adj" fmla="val 5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629400" y="1801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משימתית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875520" y="1856232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9921240" y="1856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35000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תוכן, רעיונות, נתונים, ביקורת מקצועית — מה עושים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5330952" cy="1645920"/>
          </a:xfrm>
          <a:prstGeom prst="roundRect">
            <a:avLst>
              <a:gd name="adj" fmla="val 5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777240" y="1801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תהליכית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023360" y="1856232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4069080" y="1856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ההגה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</a:t>
            </a:r>
            <a:r>
              <a:rPr lang="he-IL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35000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אג׳נדה, זמנים, החזרה לנושא — איך ומתי עושים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3429000"/>
            <a:ext cx="5330952" cy="1645920"/>
          </a:xfrm>
          <a:prstGeom prst="roundRect">
            <a:avLst>
              <a:gd name="adj" fmla="val 5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6629400" y="3538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אקלימית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875520" y="3593592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C9973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9921240" y="35935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המזגן ושמן המנוע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8736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לשים לב לשותק, לפוגג מתח — מי מרגיש איך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3429000"/>
            <a:ext cx="5330952" cy="1645920"/>
          </a:xfrm>
          <a:prstGeom prst="roundRect">
            <a:avLst>
              <a:gd name="adj" fmla="val 5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777240" y="3538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אגוצנטרית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4023360" y="3593592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E266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4069080" y="35935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הפנצ׳ר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08736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חוסם, משתלט, מחפש חיזוקים — משרתת את היחיד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5230368"/>
            <a:ext cx="11183112" cy="1097280"/>
          </a:xfrm>
          <a:prstGeom prst="roundRect">
            <a:avLst>
              <a:gd name="adj" fmla="val 1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822960" y="532180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שלושת הראשונים משרתים את הקבוצה. הרביעי משרת את האגו.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ואיזון בין משימה לתחזוקה, כמו מטוטלת: רק משימה — תוצאות בטווח הקצר וצוות שחוק בטווח הארוך. רק יחסים — לא מגיעים לשום יעד.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צוות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בונים צוות שבו כל אחד מרגיש שרואים אותו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אקלים מאשר — שלוש רמות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001000" y="1783080"/>
            <a:ext cx="3657600" cy="2468880"/>
          </a:xfrm>
          <a:prstGeom prst="roundRect">
            <a:avLst>
              <a:gd name="adj" fmla="val 33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9509760" y="1993392"/>
            <a:ext cx="640080" cy="640080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50976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8388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הכרה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18388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להכיר בעצם הנוכחות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83880" y="3611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בוקר טוב · קשר עין · תגובה להודעה בקבוצה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1783080"/>
            <a:ext cx="3657600" cy="2468880"/>
          </a:xfrm>
          <a:prstGeom prst="roundRect">
            <a:avLst>
              <a:gd name="adj" fmla="val 33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5760720" y="1993392"/>
            <a:ext cx="640080" cy="64008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576072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3484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התייחסות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43484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להגיב לתוכן עצמו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34840" y="3611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״אני שומע שאתה מתוסכל מהקצב״ — בלי חובת הסכמה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1783080"/>
            <a:ext cx="3657600" cy="2468880"/>
          </a:xfrm>
          <a:prstGeom prst="roundRect">
            <a:avLst>
              <a:gd name="adj" fmla="val 33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2011680" y="1993392"/>
            <a:ext cx="640080" cy="640080"/>
          </a:xfrm>
          <a:prstGeom prst="ellipse">
            <a:avLst/>
          </a:prstGeom>
          <a:solidFill>
            <a:srgbClr val="C9973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201168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580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ותמיכה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580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לאשר את הדעה או הרגש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3611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״הרעיון מצוין, שווה לנסות״ · ״נשמור אותו לשלב הבא״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4526280"/>
            <a:ext cx="11183112" cy="1600200"/>
          </a:xfrm>
          <a:prstGeom prst="roundRect">
            <a:avLst>
              <a:gd name="adj" fmla="val 6857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822960" y="46451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ומולן — התעלמות ותקשורת שוללת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התעלמות משדרת לאדם ״אתה אוויר״ — וזו פגיעה קשה.</a:t>
            </a:r>
            <a:endParaRPr lang="en-US" sz="1700" dirty="0"/>
          </a:p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שוללת הולכת צעד רחוק יותר: היא מבטלת את האדם ואת מה שהוא אומר.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200" b="1" noProof="0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צוות</a:t>
            </a:r>
            <a:endParaRPr lang="he-IL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b="1" noProof="0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צוותים מבריקים נכשלים כי הם קופצים ישר לפתרון</a:t>
            </a:r>
            <a:endParaRPr lang="he-IL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קבלת החלטות — מודל דיואי</a:t>
            </a:r>
            <a:endParaRPr lang="he-IL" sz="3600" noProof="0" dirty="0"/>
          </a:p>
        </p:txBody>
      </p:sp>
      <p:sp>
        <p:nvSpPr>
          <p:cNvPr id="6" name="Shape 4"/>
          <p:cNvSpPr/>
          <p:nvPr/>
        </p:nvSpPr>
        <p:spPr>
          <a:xfrm>
            <a:off x="9052560" y="1783080"/>
            <a:ext cx="2633472" cy="2514600"/>
          </a:xfrm>
          <a:prstGeom prst="roundRect">
            <a:avLst>
              <a:gd name="adj" fmla="val 327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7" name="Shape 5"/>
          <p:cNvSpPr/>
          <p:nvPr/>
        </p:nvSpPr>
        <p:spPr>
          <a:xfrm>
            <a:off x="10094976" y="1965960"/>
            <a:ext cx="548640" cy="548640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8" name="Text 6"/>
          <p:cNvSpPr/>
          <p:nvPr/>
        </p:nvSpPr>
        <p:spPr>
          <a:xfrm>
            <a:off x="1009497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2100" noProof="0" dirty="0"/>
          </a:p>
        </p:txBody>
      </p:sp>
      <p:sp>
        <p:nvSpPr>
          <p:cNvPr id="9" name="Text 7"/>
          <p:cNvSpPr/>
          <p:nvPr/>
        </p:nvSpPr>
        <p:spPr>
          <a:xfrm>
            <a:off x="9189720" y="263347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8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הבעיה</a:t>
            </a:r>
            <a:endParaRPr lang="he-IL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9189720" y="310896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100"/>
              </a:lnSpc>
              <a:buNone/>
            </a:pPr>
            <a:endParaRPr lang="he-IL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6199632" y="1783080"/>
            <a:ext cx="2633472" cy="2514600"/>
          </a:xfrm>
          <a:prstGeom prst="roundRect">
            <a:avLst>
              <a:gd name="adj" fmla="val 327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2" name="Shape 10"/>
          <p:cNvSpPr/>
          <p:nvPr/>
        </p:nvSpPr>
        <p:spPr>
          <a:xfrm>
            <a:off x="7242048" y="1965960"/>
            <a:ext cx="548640" cy="548640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3" name="Text 11"/>
          <p:cNvSpPr/>
          <p:nvPr/>
        </p:nvSpPr>
        <p:spPr>
          <a:xfrm>
            <a:off x="724204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2100" noProof="0" dirty="0"/>
          </a:p>
        </p:txBody>
      </p:sp>
      <p:sp>
        <p:nvSpPr>
          <p:cNvPr id="14" name="Text 12"/>
          <p:cNvSpPr/>
          <p:nvPr/>
        </p:nvSpPr>
        <p:spPr>
          <a:xfrm>
            <a:off x="6336792" y="263347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8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הבעיה</a:t>
            </a:r>
            <a:endParaRPr lang="he-IL" sz="1800" noProof="0" dirty="0"/>
          </a:p>
        </p:txBody>
      </p:sp>
      <p:sp>
        <p:nvSpPr>
          <p:cNvPr id="15" name="Text 13"/>
          <p:cNvSpPr/>
          <p:nvPr/>
        </p:nvSpPr>
        <p:spPr>
          <a:xfrm>
            <a:off x="6336792" y="310896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he-IL" sz="14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אוספים עובדות ומגבלות.</a:t>
            </a:r>
            <a:endParaRPr lang="he-IL" sz="1400" noProof="0" dirty="0"/>
          </a:p>
          <a:p>
            <a:pPr marL="0" indent="0" algn="ctr" rtl="1">
              <a:lnSpc>
                <a:spcPts val="2100"/>
              </a:lnSpc>
              <a:buNone/>
            </a:pPr>
            <a:r>
              <a:rPr lang="he-IL" sz="14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בלשים, לא פותרים</a:t>
            </a:r>
            <a:endParaRPr lang="he-IL" sz="1400" noProof="0" dirty="0"/>
          </a:p>
        </p:txBody>
      </p:sp>
      <p:sp>
        <p:nvSpPr>
          <p:cNvPr id="16" name="Shape 14"/>
          <p:cNvSpPr/>
          <p:nvPr/>
        </p:nvSpPr>
        <p:spPr>
          <a:xfrm>
            <a:off x="3346704" y="1783080"/>
            <a:ext cx="2633472" cy="2514600"/>
          </a:xfrm>
          <a:prstGeom prst="roundRect">
            <a:avLst>
              <a:gd name="adj" fmla="val 327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7" name="Shape 15"/>
          <p:cNvSpPr/>
          <p:nvPr/>
        </p:nvSpPr>
        <p:spPr>
          <a:xfrm>
            <a:off x="4389120" y="1965960"/>
            <a:ext cx="548640" cy="54864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18" name="Text 16"/>
          <p:cNvSpPr/>
          <p:nvPr/>
        </p:nvSpPr>
        <p:spPr>
          <a:xfrm>
            <a:off x="43891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2100" noProof="0" dirty="0"/>
          </a:p>
        </p:txBody>
      </p:sp>
      <p:sp>
        <p:nvSpPr>
          <p:cNvPr id="19" name="Text 17"/>
          <p:cNvSpPr/>
          <p:nvPr/>
        </p:nvSpPr>
        <p:spPr>
          <a:xfrm>
            <a:off x="3483864" y="263347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8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סיעור מוחות</a:t>
            </a:r>
            <a:endParaRPr lang="he-IL" sz="1800" noProof="0" dirty="0"/>
          </a:p>
        </p:txBody>
      </p:sp>
      <p:sp>
        <p:nvSpPr>
          <p:cNvPr id="20" name="Text 18"/>
          <p:cNvSpPr/>
          <p:nvPr/>
        </p:nvSpPr>
        <p:spPr>
          <a:xfrm>
            <a:off x="3483864" y="310896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he-IL" sz="14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כמות ולא איכות.</a:t>
            </a:r>
            <a:endParaRPr lang="he-IL" sz="1400" noProof="0" dirty="0"/>
          </a:p>
          <a:p>
            <a:pPr marL="0" indent="0" algn="ctr" rtl="1">
              <a:lnSpc>
                <a:spcPts val="2100"/>
              </a:lnSpc>
              <a:buNone/>
            </a:pPr>
            <a:r>
              <a:rPr lang="he-IL" sz="14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ביקורת</a:t>
            </a:r>
            <a:endParaRPr lang="he-IL" sz="1400" noProof="0" dirty="0"/>
          </a:p>
        </p:txBody>
      </p:sp>
      <p:sp>
        <p:nvSpPr>
          <p:cNvPr id="21" name="Shape 19"/>
          <p:cNvSpPr/>
          <p:nvPr/>
        </p:nvSpPr>
        <p:spPr>
          <a:xfrm>
            <a:off x="502920" y="1783080"/>
            <a:ext cx="2633472" cy="2514600"/>
          </a:xfrm>
          <a:prstGeom prst="roundRect">
            <a:avLst>
              <a:gd name="adj" fmla="val 327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2" name="Shape 20"/>
          <p:cNvSpPr/>
          <p:nvPr/>
        </p:nvSpPr>
        <p:spPr>
          <a:xfrm>
            <a:off x="1545336" y="1965960"/>
            <a:ext cx="548640" cy="548640"/>
          </a:xfrm>
          <a:prstGeom prst="ellipse">
            <a:avLst/>
          </a:prstGeom>
          <a:solidFill>
            <a:srgbClr val="C9973F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23" name="Text 21"/>
          <p:cNvSpPr/>
          <p:nvPr/>
        </p:nvSpPr>
        <p:spPr>
          <a:xfrm>
            <a:off x="154533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2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2100" noProof="0" dirty="0"/>
          </a:p>
        </p:txBody>
      </p:sp>
      <p:sp>
        <p:nvSpPr>
          <p:cNvPr id="24" name="Text 22"/>
          <p:cNvSpPr/>
          <p:nvPr/>
        </p:nvSpPr>
        <p:spPr>
          <a:xfrm>
            <a:off x="640080" y="263347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8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הערכה ובחירה</a:t>
            </a:r>
            <a:endParaRPr lang="he-IL" sz="1800" noProof="0" dirty="0"/>
          </a:p>
        </p:txBody>
      </p:sp>
      <p:sp>
        <p:nvSpPr>
          <p:cNvPr id="25" name="Text 23"/>
          <p:cNvSpPr/>
          <p:nvPr/>
        </p:nvSpPr>
        <p:spPr>
          <a:xfrm>
            <a:off x="640080" y="310896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he-IL" sz="14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עכשיו שופטים</a:t>
            </a:r>
            <a:endParaRPr lang="he-IL" sz="1400" noProof="0" dirty="0"/>
          </a:p>
          <a:p>
            <a:pPr marL="0" indent="0" algn="ctr" rtl="1">
              <a:lnSpc>
                <a:spcPts val="2100"/>
              </a:lnSpc>
              <a:buNone/>
            </a:pPr>
            <a:r>
              <a:rPr lang="he-IL" sz="14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ומסננים מול הנתונים</a:t>
            </a:r>
            <a:endParaRPr lang="he-IL" sz="1400" noProof="0" dirty="0"/>
          </a:p>
        </p:txBody>
      </p:sp>
      <p:sp>
        <p:nvSpPr>
          <p:cNvPr id="26" name="Text 24"/>
          <p:cNvSpPr/>
          <p:nvPr/>
        </p:nvSpPr>
        <p:spPr>
          <a:xfrm>
            <a:off x="8092440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600" noProof="0" dirty="0">
                <a:solidFill>
                  <a:srgbClr val="DC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he-IL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5239512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600" noProof="0" dirty="0">
                <a:solidFill>
                  <a:srgbClr val="DC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he-IL" sz="1600" noProof="0" dirty="0"/>
          </a:p>
        </p:txBody>
      </p:sp>
      <p:sp>
        <p:nvSpPr>
          <p:cNvPr id="28" name="Text 26"/>
          <p:cNvSpPr/>
          <p:nvPr/>
        </p:nvSpPr>
        <p:spPr>
          <a:xfrm>
            <a:off x="2386584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600" noProof="0" dirty="0">
                <a:solidFill>
                  <a:srgbClr val="DC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he-IL" sz="1600" noProof="0" dirty="0"/>
          </a:p>
        </p:txBody>
      </p:sp>
      <p:sp>
        <p:nvSpPr>
          <p:cNvPr id="29" name="Shape 27"/>
          <p:cNvSpPr/>
          <p:nvPr/>
        </p:nvSpPr>
        <p:spPr>
          <a:xfrm>
            <a:off x="3435330" y="4526280"/>
            <a:ext cx="2528668" cy="1051560"/>
          </a:xfrm>
          <a:prstGeom prst="roundRect">
            <a:avLst>
              <a:gd name="adj" fmla="val 7826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 noProof="0" dirty="0"/>
          </a:p>
        </p:txBody>
      </p:sp>
      <p:sp>
        <p:nvSpPr>
          <p:cNvPr id="30" name="Text 28"/>
          <p:cNvSpPr/>
          <p:nvPr/>
        </p:nvSpPr>
        <p:spPr>
          <a:xfrm>
            <a:off x="3709650" y="4617720"/>
            <a:ext cx="225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noProof="0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חשיבה מסתעפת</a:t>
            </a:r>
            <a:endParaRPr lang="he-IL" sz="1900" noProof="0" dirty="0"/>
          </a:p>
        </p:txBody>
      </p:sp>
      <p:sp>
        <p:nvSpPr>
          <p:cNvPr id="31" name="Text 29"/>
          <p:cNvSpPr/>
          <p:nvPr/>
        </p:nvSpPr>
        <p:spPr>
          <a:xfrm>
            <a:off x="3709650" y="5047488"/>
            <a:ext cx="225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ייצור רעיונות רבים ומגוונים</a:t>
            </a:r>
            <a:endParaRPr lang="he-IL" sz="1500" noProof="0" dirty="0"/>
          </a:p>
        </p:txBody>
      </p:sp>
      <p:sp>
        <p:nvSpPr>
          <p:cNvPr id="32" name="Shape 30"/>
          <p:cNvSpPr/>
          <p:nvPr/>
        </p:nvSpPr>
        <p:spPr>
          <a:xfrm>
            <a:off x="502920" y="4526280"/>
            <a:ext cx="2633472" cy="1051560"/>
          </a:xfrm>
          <a:prstGeom prst="roundRect">
            <a:avLst>
              <a:gd name="adj" fmla="val 7826"/>
            </a:avLst>
          </a:prstGeom>
          <a:solidFill>
            <a:srgbClr val="F2F4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 noProof="0" dirty="0"/>
          </a:p>
        </p:txBody>
      </p:sp>
      <p:sp>
        <p:nvSpPr>
          <p:cNvPr id="33" name="Text 31"/>
          <p:cNvSpPr/>
          <p:nvPr/>
        </p:nvSpPr>
        <p:spPr>
          <a:xfrm>
            <a:off x="777240" y="4617720"/>
            <a:ext cx="23488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noProof="0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חשיבה מתכנסת</a:t>
            </a:r>
            <a:endParaRPr lang="he-IL" sz="1900" noProof="0" dirty="0"/>
          </a:p>
        </p:txBody>
      </p:sp>
      <p:sp>
        <p:nvSpPr>
          <p:cNvPr id="34" name="Text 32"/>
          <p:cNvSpPr/>
          <p:nvPr/>
        </p:nvSpPr>
        <p:spPr>
          <a:xfrm>
            <a:off x="777240" y="5047488"/>
            <a:ext cx="23488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500" noProof="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סינון והתכנסות לפתרון</a:t>
            </a:r>
            <a:endParaRPr lang="he-IL" sz="1500" noProof="0" dirty="0"/>
          </a:p>
        </p:txBody>
      </p:sp>
      <p:sp>
        <p:nvSpPr>
          <p:cNvPr id="35" name="Text 33"/>
          <p:cNvSpPr/>
          <p:nvPr/>
        </p:nvSpPr>
        <p:spPr>
          <a:xfrm>
            <a:off x="502920" y="5742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800" b="1" noProof="0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המפתח: הפרדה מוחלטת בין שלב היצירה לשלב השיפוט.</a:t>
            </a:r>
            <a:endParaRPr lang="he-IL" sz="1800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צוות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אירווינג </a:t>
            </a:r>
            <a:r>
              <a:rPr lang="en-US" sz="15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ג׳ניס</a:t>
            </a:r>
            <a:r>
              <a:rPr lang="he-IL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Groupthink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חשיבת יחד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868680" y="18105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הרצון בהרמוניה גובר על החשיבה הביקורתית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6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משהו בבטן אומר לכם שזה לא יעבוד — וכולם מסביב מהנהנים, אז גם אתם שותקים.</a:t>
            </a:r>
            <a:endParaRPr lang="en-US" sz="1600" dirty="0"/>
          </a:p>
          <a:p>
            <a:pPr marL="0" indent="0" algn="r" rtl="1">
              <a:lnSpc>
                <a:spcPts val="2400"/>
              </a:lnSpc>
              <a:buNone/>
            </a:pPr>
            <a:r>
              <a:rPr lang="en-US" sz="160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הבסיס: ניסויי הקונפורמיות של אש  ·  הדוגמה הקלאסית: אסון הצ׳לנג׳ר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דרכים לשבור את זה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01000" y="379476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8229600" y="3950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פרקליט השטן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0" y="446227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אדם שתפקידו הרשמי לחפש </a:t>
            </a:r>
            <a:r>
              <a:rPr lang="en-US" sz="15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חורים</a:t>
            </a: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51960" y="379476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4480560" y="3950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המנהל מדבר אחרון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80560" y="446227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הוא מדבר ראשון,</a:t>
            </a:r>
            <a:endParaRPr lang="en-US" sz="1500" dirty="0"/>
          </a:p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כולם מיישרים קו לפי דעתו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731520" y="3950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פרה-מורטם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31520" y="446227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לדמיין מראש שהפרויקט נכשל,</a:t>
            </a:r>
            <a:endParaRPr lang="en-US" sz="1500" dirty="0"/>
          </a:p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ולשאול מה גרם לכישלון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צוות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שיטת הסנדוויץ׳ לא עובדת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משוב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183112" cy="777240"/>
          </a:xfrm>
          <a:prstGeom prst="roundRect">
            <a:avLst>
              <a:gd name="adj" fmla="val 14118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אנשים לא טיפשים. ברגע ששמעו את המחמאה הראשונה הם כבר מחכים ל״אבל״.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11155680" cy="612648"/>
          </a:xfrm>
          <a:prstGeom prst="roundRect">
            <a:avLst>
              <a:gd name="adj" fmla="val 134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11064240" y="2770632"/>
            <a:ext cx="457200" cy="45720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106424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63840" y="2697480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משפה מעריכה למתארת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6995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״אתה אף פעם לא בזמן״ ← ״בשתי הישיבות האחרונות הצטרפת ברבע שעה איחור״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419856"/>
            <a:ext cx="11155680" cy="612648"/>
          </a:xfrm>
          <a:prstGeom prst="roundRect">
            <a:avLst>
              <a:gd name="adj" fmla="val 134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11064240" y="3493008"/>
            <a:ext cx="457200" cy="45720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1106424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863840" y="3419856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שפת ״אני״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3419856"/>
            <a:ext cx="6995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רגש ← התנהגות ← השלכה ← בקשה. אי אפשר להתווכח עם רגש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142232"/>
            <a:ext cx="11155680" cy="612648"/>
          </a:xfrm>
          <a:prstGeom prst="roundRect">
            <a:avLst>
              <a:gd name="adj" fmla="val 134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11064240" y="4215384"/>
            <a:ext cx="457200" cy="45720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110642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63840" y="4142232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הפרדת כוונה מהשפעה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4142232"/>
            <a:ext cx="6995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״ההשפעה הייתה כזו — מה הייתה הכוונה?״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864608"/>
            <a:ext cx="11155680" cy="612648"/>
          </a:xfrm>
          <a:prstGeom prst="roundRect">
            <a:avLst>
              <a:gd name="adj" fmla="val 134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11064240" y="4937760"/>
            <a:ext cx="457200" cy="45720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110642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863840" y="4864608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מאשמה לתרומה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77240" y="4864608"/>
            <a:ext cx="6995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אשמה מסתכלת אחורה כדי להעניש; תרומה שואלת איך שנינו הגענו לזה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5586984"/>
            <a:ext cx="11155680" cy="612648"/>
          </a:xfrm>
          <a:prstGeom prst="roundRect">
            <a:avLst>
              <a:gd name="adj" fmla="val 13433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11064240" y="5660136"/>
            <a:ext cx="457200" cy="457200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11064240" y="5660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863840" y="5586984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הקפיצה הבאה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77240" y="5586984"/>
            <a:ext cx="6995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מתחילים מההתקדמות שכבר קרתה ובונים יעד הנשען על חוזקות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ולסיים כך שברור מה הצעד הבא — ושאנחנו נשארים בסביבה.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צוות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מוטיבציה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355080" y="1737360"/>
            <a:ext cx="5330952" cy="1691640"/>
          </a:xfrm>
          <a:prstGeom prst="roundRect">
            <a:avLst>
              <a:gd name="adj" fmla="val 4865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62940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מוטיבציה חיצונית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629400" y="2359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מקל וגזר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2743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עובדת למשימות מכניות. לעבודה שדורשת חשיבה — מייצרת צייתנות עיוורת או התנגדות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5330952" cy="1691640"/>
          </a:xfrm>
          <a:prstGeom prst="roundRect">
            <a:avLst>
              <a:gd name="adj" fmla="val 4865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3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מוטיבציה פנימית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2359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 זה מעניין ומשמעותי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מייצרת מצוינות, יוזמה והתמדה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שלושת מרכיבי המוטיבציה הפנימית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01000" y="416052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8229600" y="4315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F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אוטונומיה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229600" y="482803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להגדיר את ה״מה״ ולהשאיר את ה״איך״.</a:t>
            </a:r>
            <a:endParaRPr lang="en-US" sz="1500" dirty="0"/>
          </a:p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מיקרו-מנג׳מנט הורג מוטיבציה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51960" y="416052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4480560" y="4315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2E8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מסוגלות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480560" y="482803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התחושה שאני יכול ומשתפר.</a:t>
            </a:r>
            <a:endParaRPr lang="en-US" sz="1500" dirty="0"/>
          </a:p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דורשת מרחב טעות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731520" y="4315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C99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משמעות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31520" y="482803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אני עושה את זה</a:t>
            </a:r>
            <a:endParaRPr lang="en-US" sz="1500" dirty="0"/>
          </a:p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ואיך זה מתחבר לתמונה הגדולה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7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עבודת צוות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כמו לחבר לרשת אחת Windows, Mac </a:t>
            </a:r>
            <a:r>
              <a:rPr lang="en-US" sz="1500" b="1" dirty="0" err="1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</a:t>
            </a:r>
            <a:r>
              <a:rPr lang="he-IL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צוותים מגוונים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155680" cy="932688"/>
          </a:xfrm>
          <a:prstGeom prst="roundRect">
            <a:avLst>
              <a:gd name="adj" fmla="val 8824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0954512" y="1984248"/>
            <a:ext cx="438912" cy="438912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7360920" y="1737360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שפה חסרת כוח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6446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הסתייגויות · הצהרות ויתור · שאלות תגית.</a:t>
            </a:r>
            <a:endParaRPr lang="en-US" sz="1300" dirty="0"/>
          </a:p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כשאתם בטוחים ברעיון — אל תתנצלו עליו לפני שהבאתם אותו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816352"/>
            <a:ext cx="11155680" cy="932688"/>
          </a:xfrm>
          <a:prstGeom prst="roundRect">
            <a:avLst>
              <a:gd name="adj" fmla="val 8824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10954512" y="3063240"/>
            <a:ext cx="438912" cy="438912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7360920" y="2816352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נמוך מול גבוה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816352"/>
            <a:ext cx="6446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המשמעות במילים (ישראל) מול המשמעות ברמזים ובשתיקות, ובערך של שמירת פנים.</a:t>
            </a:r>
            <a:endParaRPr lang="en-US" sz="1300" dirty="0"/>
          </a:p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כשאחד אומר ״אולי בהזדמנות״ ומתכוון ״לא״ — יש תקלה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1155680" cy="932688"/>
          </a:xfrm>
          <a:prstGeom prst="roundRect">
            <a:avLst>
              <a:gd name="adj" fmla="val 8824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10954512" y="4142232"/>
            <a:ext cx="438912" cy="438912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7360920" y="3895344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מרחק כוח · אינדיבידואליזם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3895344"/>
            <a:ext cx="6446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כמה היררכיה נתפסת כטבעית · והאם היחיד קודם לקבוצה.</a:t>
            </a:r>
            <a:endParaRPr lang="en-US" sz="1300" dirty="0"/>
          </a:p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 פומבית ומחמאה פומבית משנות משמעות לגמרי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974336"/>
            <a:ext cx="11155680" cy="932688"/>
          </a:xfrm>
          <a:prstGeom prst="roundRect">
            <a:avLst>
              <a:gd name="adj" fmla="val 8824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10954512" y="5221224"/>
            <a:ext cx="438912" cy="438912"/>
          </a:xfrm>
          <a:prstGeom prst="ellipse">
            <a:avLst/>
          </a:prstGeom>
          <a:solidFill>
            <a:srgbClr val="C9973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7360920" y="4974336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פערים מגדריים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4974336"/>
            <a:ext cx="6446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מול Rapport · סימני הקשבה (הנהון = ״תמשיך״ או ״אני מסכים״) · קטיעות דיבור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5943600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EAF2F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3152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דפוסים תרבותיים סטטיסטיים — לא תוויות על אנשים. והפתרון לכולם אחד: מודעות.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F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937760" cy="4937760"/>
          </a:xfrm>
          <a:prstGeom prst="ellipse">
            <a:avLst/>
          </a:prstGeom>
          <a:solidFill>
            <a:srgbClr val="34467F">
              <a:alpha val="4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אחד מחמשת החלקים</a:t>
            </a:r>
            <a:endParaRPr lang="en-US" sz="3600" dirty="0"/>
          </a:p>
          <a:p>
            <a:pPr marL="0" indent="0" algn="r" rtl="1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חזרו אותם שני עקרונות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263640" y="274320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537960" y="29077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מודעות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3796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700" dirty="0">
                <a:solidFill>
                  <a:srgbClr val="D5D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לעצור ולראות מה קורה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960120" y="29077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בחירה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012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700" dirty="0">
                <a:solidFill>
                  <a:srgbClr val="D5DB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ואז לבחור איך להגיב, במקום להיסחף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וזה שריר. הוא לא מולד, הוא נבנה, ואפשר להתאמן עליו כל החיים.</a:t>
            </a:r>
            <a:endParaRPr lang="en-US" sz="2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98F6-C2CD-7500-4EE3-E5E071ED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 לחזרה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A7D18-9AA3-E7F8-78F9-158E86F05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buNone/>
            </a:pPr>
            <a:r>
              <a:rPr lang="he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יזה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משפט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מיישם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"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תקשורת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מקרבת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"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בצורה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הנכונה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ביותר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?</a:t>
            </a:r>
            <a:endParaRPr lang="en-IL" b="0" dirty="0">
              <a:effectLst/>
            </a:endParaRPr>
          </a:p>
          <a:p>
            <a:pPr algn="r" rtl="1" fontAlgn="base">
              <a:spcBef>
                <a:spcPts val="1400"/>
              </a:spcBef>
              <a:buFont typeface="+mj-lt"/>
              <a:buAutoNum type="arabicPeriod"/>
            </a:pP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כשאתה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מאחר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אני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בלחץ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כי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חשוב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לי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לעמוד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בזמנים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</a:p>
          <a:p>
            <a:pPr algn="r" rtl="1" fontAlgn="base">
              <a:buFont typeface="+mj-lt"/>
              <a:buAutoNum type="arabicPeriod"/>
            </a:pP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אתה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תמיד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מאחר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וזה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מראה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על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זלזול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!</a:t>
            </a:r>
          </a:p>
          <a:p>
            <a:pPr algn="r" rtl="1" fontAlgn="base">
              <a:buFont typeface="+mj-lt"/>
              <a:buAutoNum type="arabicPeriod"/>
            </a:pP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האיחורים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שלך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גורמים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לי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לחשוב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שאתה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פשוט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חסר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אחריות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algn="r" rtl="1" fontAlgn="base">
              <a:spcAft>
                <a:spcPts val="1400"/>
              </a:spcAft>
              <a:buFont typeface="+mj-lt"/>
              <a:buAutoNum type="arabicPeriod"/>
            </a:pP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אני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דורש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שתפסיק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לאחר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החל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ממחר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!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493275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78EB8-7A27-605E-283A-D66A68FC0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שאלת חזרה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9BA92-9148-0BBE-6D13-7EA6D4D59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buNone/>
            </a:pP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המ</a:t>
            </a:r>
            <a:r>
              <a:rPr lang="he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נהל שלכם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מעביר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ביקורת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על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he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הדוח שהגשתם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.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למרות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שהביקורת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מקצועית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לחלוטין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,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אתם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מוצאים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את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עצמכם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חושבים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: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אני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כנראה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מתכנת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נוראי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,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אולי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אני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בכלל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כישלון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.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באיזו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he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רמה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של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הקונפליקט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אתם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נמצאים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כרגע</a:t>
            </a:r>
            <a:r>
              <a:rPr lang="he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על פי מודל שיחות קשות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?</a:t>
            </a:r>
            <a:endParaRPr lang="en-IL" b="0" dirty="0">
              <a:effectLst/>
            </a:endParaRPr>
          </a:p>
          <a:p>
            <a:pPr marL="0" indent="0" algn="r" rtl="1" fontAlgn="base">
              <a:spcBef>
                <a:spcPts val="1400"/>
              </a:spcBef>
              <a:buNone/>
            </a:pPr>
            <a:r>
              <a:rPr lang="he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א.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שיחת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הזהות</a:t>
            </a:r>
            <a:endParaRPr lang="en-IL" sz="3200" b="0" i="0" u="none" strike="noStrike" dirty="0">
              <a:solidFill>
                <a:srgbClr val="303030"/>
              </a:solidFill>
              <a:effectLst/>
              <a:latin typeface="David" panose="020E0502060401010101" pitchFamily="34" charset="-79"/>
            </a:endParaRPr>
          </a:p>
          <a:p>
            <a:pPr marL="0" indent="0" algn="r" rtl="1" fontAlgn="base">
              <a:buNone/>
            </a:pPr>
            <a:r>
              <a:rPr lang="he-IL" dirty="0">
                <a:solidFill>
                  <a:srgbClr val="303030"/>
                </a:solidFill>
                <a:latin typeface="David" panose="020E0502060401010101" pitchFamily="34" charset="-79"/>
              </a:rPr>
              <a:t>ב.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שיחת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העובדות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 </a:t>
            </a:r>
          </a:p>
          <a:p>
            <a:pPr marL="0" indent="0" algn="r" rtl="1" fontAlgn="base">
              <a:buNone/>
            </a:pPr>
            <a:r>
              <a:rPr lang="he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ג.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שיחת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הרגשות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.</a:t>
            </a:r>
          </a:p>
          <a:p>
            <a:pPr marL="0" indent="0" algn="r" rtl="1" fontAlgn="base">
              <a:spcAft>
                <a:spcPts val="1400"/>
              </a:spcAft>
              <a:buNone/>
            </a:pPr>
            <a:r>
              <a:rPr lang="he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ד.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המעבר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מתרומה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לאשמה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.</a:t>
            </a:r>
          </a:p>
          <a:p>
            <a:pPr marL="0" indent="0" algn="r" rtl="1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749883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7F085-09BC-0327-4CD9-B41B8319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 לחזרה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82AB7-9A78-2695-8855-830E3B958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buNone/>
            </a:pP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דנה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החליטה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לא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להתעקש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על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דעתה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בפרויקט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כדי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לרצות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את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השותפה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שלה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ולא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לריב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.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מה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הסגנון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שלה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?</a:t>
            </a:r>
            <a:endParaRPr lang="en-IL" b="0" dirty="0">
              <a:effectLst/>
            </a:endParaRPr>
          </a:p>
          <a:p>
            <a:pPr algn="r" rtl="1" fontAlgn="base">
              <a:buFont typeface="+mj-lt"/>
              <a:buAutoNum type="arabicPeriod"/>
            </a:pP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פשרה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 </a:t>
            </a:r>
            <a:r>
              <a:rPr lang="en-US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lose-win, win –lose </a:t>
            </a:r>
            <a:endParaRPr lang="he-IL" dirty="0">
              <a:solidFill>
                <a:srgbClr val="303030"/>
              </a:solidFill>
              <a:latin typeface="David" panose="020E0502060401010101" pitchFamily="34" charset="-79"/>
            </a:endParaRPr>
          </a:p>
          <a:p>
            <a:pPr algn="r" rtl="1" fontAlgn="base">
              <a:buFont typeface="+mj-lt"/>
              <a:buAutoNum type="arabicPeriod"/>
            </a:pP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שיתוף </a:t>
            </a: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פעולה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 </a:t>
            </a:r>
            <a:r>
              <a:rPr lang="en-US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Win </a:t>
            </a:r>
            <a:r>
              <a:rPr lang="en-US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win</a:t>
            </a:r>
            <a:r>
              <a:rPr lang="en-US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endParaRPr lang="he-IL" dirty="0">
              <a:solidFill>
                <a:srgbClr val="303030"/>
              </a:solidFill>
              <a:latin typeface="David" panose="020E0502060401010101" pitchFamily="34" charset="-79"/>
            </a:endParaRPr>
          </a:p>
          <a:p>
            <a:pPr algn="r" rtl="1" fontAlgn="base">
              <a:buFont typeface="+mj-lt"/>
              <a:buAutoNum type="arabicPeriod"/>
            </a:pP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הימנעות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 </a:t>
            </a:r>
            <a:r>
              <a:rPr lang="en-US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lose </a:t>
            </a:r>
            <a:r>
              <a:rPr lang="en-US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lose</a:t>
            </a:r>
            <a:endParaRPr lang="he-IL" dirty="0">
              <a:solidFill>
                <a:srgbClr val="303030"/>
              </a:solidFill>
              <a:latin typeface="David" panose="020E0502060401010101" pitchFamily="34" charset="-79"/>
            </a:endParaRPr>
          </a:p>
          <a:p>
            <a:pPr algn="r" rtl="1" fontAlgn="base">
              <a:spcAft>
                <a:spcPts val="1400"/>
              </a:spcAft>
              <a:buFont typeface="+mj-lt"/>
              <a:buAutoNum type="arabicPeriod"/>
            </a:pPr>
            <a:r>
              <a:rPr kumimoji="0" lang="en-IL" sz="32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</a:rPr>
              <a:t>ויתור / </a:t>
            </a:r>
            <a:r>
              <a:rPr kumimoji="0" lang="en-IL" sz="3200" b="0" i="0" u="none" strike="noStrike" kern="0" cap="none" spc="0" normalizeH="0" baseline="0" noProof="0" dirty="0" err="1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</a:rPr>
              <a:t>התרצות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</a:rPr>
              <a:t> </a:t>
            </a:r>
            <a:r>
              <a:rPr kumimoji="0" lang="en-IL" sz="32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</a:rPr>
              <a:t> 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</a:rPr>
              <a:t>Lose- Win</a:t>
            </a:r>
            <a:r>
              <a:rPr kumimoji="0" lang="he-IL" sz="32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</a:rPr>
              <a:t> </a:t>
            </a:r>
            <a:endParaRPr kumimoji="0" lang="en-IL" sz="32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David" panose="020E0502060401010101" pitchFamily="34" charset="-79"/>
              <a:ea typeface="+mn-ea"/>
            </a:endParaRPr>
          </a:p>
          <a:p>
            <a:pPr algn="r" rtl="1" fontAlgn="base">
              <a:spcAft>
                <a:spcPts val="1400"/>
              </a:spcAft>
              <a:buFont typeface="+mj-lt"/>
              <a:buAutoNum type="arabicPeriod"/>
            </a:pPr>
            <a:endParaRPr lang="en-IL" sz="3200" b="0" i="0" u="none" strike="noStrike" dirty="0">
              <a:solidFill>
                <a:srgbClr val="303030"/>
              </a:solidFill>
              <a:effectLst/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530859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DC46-1766-F2EE-E316-7405278BA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שאלת חזרה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854AE-CBC7-327F-0D6A-B020373E6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buNone/>
            </a:pP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שני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צוותים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בארגון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מתווכחים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על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תקציב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שיווק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. שני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ראשי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הצוותים</a:t>
            </a:r>
            <a:r>
              <a:rPr lang="he-IL" b="1" dirty="0">
                <a:solidFill>
                  <a:srgbClr val="303030"/>
                </a:solidFill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יושבים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יחד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, </a:t>
            </a:r>
            <a:r>
              <a:rPr lang="he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מבינים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את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האינטרסים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של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כל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צד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, </a:t>
            </a:r>
            <a:r>
              <a:rPr lang="he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ומפתחים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קמפיין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משותף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שמגדיל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את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התקציב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הכולל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לשניהם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גם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יחד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.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באיזה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סגנון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התמודדות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הם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  <a:r>
              <a:rPr lang="en-IL" sz="3200" b="1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בחרו</a:t>
            </a:r>
            <a:r>
              <a:rPr lang="en-IL" sz="3200" b="1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?</a:t>
            </a:r>
            <a:endParaRPr lang="en-IL" b="0" dirty="0">
              <a:effectLst/>
            </a:endParaRPr>
          </a:p>
          <a:p>
            <a:pPr algn="r" rtl="1" fontAlgn="base">
              <a:buFont typeface="+mj-lt"/>
              <a:buAutoNum type="arabicPeriod"/>
            </a:pP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פשרה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 </a:t>
            </a:r>
          </a:p>
          <a:p>
            <a:pPr algn="r" rtl="1" fontAlgn="base">
              <a:buFont typeface="+mj-lt"/>
              <a:buAutoNum type="arabicPeriod"/>
            </a:pP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הימנעות</a:t>
            </a:r>
            <a:endParaRPr lang="he-IL" sz="3200" b="0" i="0" u="none" strike="noStrike" dirty="0">
              <a:solidFill>
                <a:srgbClr val="303030"/>
              </a:solidFill>
              <a:effectLst/>
              <a:latin typeface="David" panose="020E0502060401010101" pitchFamily="34" charset="-79"/>
            </a:endParaRPr>
          </a:p>
          <a:p>
            <a:pPr marL="342892" marR="0" lvl="0" indent="-342892" algn="r" defTabSz="914400" rtl="1" eaLnBrk="0" fontAlgn="base" latinLnBrk="0" hangingPunct="0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 </a:t>
            </a:r>
            <a:r>
              <a:rPr kumimoji="0" lang="en-IL" sz="32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Arial"/>
              </a:rPr>
              <a:t>שיתוף </a:t>
            </a:r>
            <a:r>
              <a:rPr kumimoji="0" lang="en-IL" sz="3200" b="0" i="0" u="none" strike="noStrike" kern="0" cap="none" spc="0" normalizeH="0" baseline="0" noProof="0" dirty="0" err="1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Arial"/>
              </a:rPr>
              <a:t>פעולה</a:t>
            </a:r>
            <a:r>
              <a:rPr kumimoji="0" lang="en-IL" sz="32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Arial"/>
              </a:rPr>
              <a:t> </a:t>
            </a:r>
            <a:endParaRPr lang="en-IL" sz="3200" b="0" i="0" u="none" strike="noStrike" dirty="0">
              <a:solidFill>
                <a:srgbClr val="303030"/>
              </a:solidFill>
              <a:effectLst/>
              <a:latin typeface="David" panose="020E0502060401010101" pitchFamily="34" charset="-79"/>
            </a:endParaRPr>
          </a:p>
          <a:p>
            <a:pPr algn="r" rtl="1" fontAlgn="base">
              <a:spcAft>
                <a:spcPts val="1400"/>
              </a:spcAft>
              <a:buFont typeface="+mj-lt"/>
              <a:buAutoNum type="arabicPeriod"/>
            </a:pPr>
            <a:r>
              <a:rPr lang="en-IL" sz="3200" b="0" i="0" u="none" strike="noStrike" dirty="0" err="1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תחרות</a:t>
            </a:r>
            <a:r>
              <a:rPr lang="en-IL" sz="3200" b="0" i="0" u="none" strike="noStrike" dirty="0">
                <a:solidFill>
                  <a:srgbClr val="303030"/>
                </a:solidFill>
                <a:effectLst/>
                <a:latin typeface="David" panose="020E0502060401010101" pitchFamily="34" charset="-79"/>
              </a:rPr>
              <a:t> </a:t>
            </a:r>
          </a:p>
          <a:p>
            <a:pPr marL="0" indent="0" algn="r" rtl="1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587975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FF56-B474-118E-5811-569C46492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שאלת חזרה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A920B-93A1-46B8-AB64-1C85B1911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פרושו של הפיענוח בתקשורת הבין אישית הוא</a:t>
            </a:r>
            <a:endParaRPr lang="en-IL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א. הבנת המסר</a:t>
            </a:r>
            <a:endParaRPr lang="en-IL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ב. העברת המסר</a:t>
            </a:r>
            <a:endParaRPr lang="en-IL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ג. יצירת רעש למסר</a:t>
            </a:r>
            <a:endParaRPr lang="en-IL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ד. כולל את כל הפעולות בתקשורת</a:t>
            </a:r>
            <a:endParaRPr lang="en-IL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073498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1CB6-4F63-135D-1122-DABFF5C81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שאלת חזרה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CF59E-923B-B583-57FC-C3DDA4A96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מהם </a:t>
            </a:r>
            <a:r>
              <a:rPr lang="he-IL" sz="32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אינו </a:t>
            </a: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נכלל בין מרכיבי מודל התקשורת כפעולה- המודל הלינארי?</a:t>
            </a:r>
            <a:endParaRPr lang="en-IL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א. מקור </a:t>
            </a:r>
            <a:endParaRPr lang="en-IL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ב. מסר</a:t>
            </a:r>
            <a:endParaRPr lang="en-IL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ג. רעש</a:t>
            </a:r>
            <a:endParaRPr lang="en-IL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ד. משוב </a:t>
            </a:r>
            <a:endParaRPr lang="en-IL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461227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91D7E-03EA-D932-6C71-DFD0EAC3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שאלת חזרה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9D89-B65E-34BE-A0E6-ECCE25C68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IL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המשפט "הפרצלציה של המדרור בלגיטיזציה האומניפוטנטית"  ששני חברינו עורכי הדין אומרים זה לזה שיושבים בשישי בערב בסלון ואנחנו לא מבינים היא דוגמה לשפה:</a:t>
            </a:r>
            <a:endParaRPr lang="en-IL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א. ישירה</a:t>
            </a:r>
            <a:endParaRPr lang="en-IL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ב. משתפת</a:t>
            </a:r>
            <a:endParaRPr lang="en-IL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ג. שלילית</a:t>
            </a:r>
            <a:endParaRPr lang="en-IL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ד. מדירה</a:t>
            </a:r>
            <a:endParaRPr lang="en-IL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137532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0" y="402336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2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שנפרדים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עצות לבחינה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10954512" y="2148840"/>
            <a:ext cx="530352" cy="530352"/>
          </a:xfrm>
          <a:prstGeom prst="ellipse">
            <a:avLst/>
          </a:prstGeom>
          <a:solidFill>
            <a:srgbClr val="1F2E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0954512" y="2148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 השאלות - </a:t>
            </a:r>
            <a:r>
              <a:rPr lang="en-US" sz="2100" b="1" dirty="0" err="1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תרחיש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תתרגלו</a:t>
            </a: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לזהות. קחו כל מושג ושאלו: איך זה נראה בסיטואציה?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10954512" y="3566160"/>
            <a:ext cx="530352" cy="530352"/>
          </a:xfrm>
          <a:prstGeom prst="ellipse">
            <a:avLst/>
          </a:prstGeom>
          <a:solidFill>
            <a:srgbClr val="E2664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0954512" y="3566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 לב לזוגות שקל לבלבל ביניהם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שיקוף/תיקוף · פשרה/שיתוף פעולה · רגשות/</a:t>
            </a:r>
            <a:r>
              <a:rPr lang="en-US" sz="1600" dirty="0" err="1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זהות</a:t>
            </a: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F2F4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10954512" y="4983480"/>
            <a:ext cx="530352" cy="530352"/>
          </a:xfrm>
          <a:prstGeom prst="ellipse">
            <a:avLst/>
          </a:prstGeom>
          <a:solidFill>
            <a:srgbClr val="2E8B8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10954512" y="4983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4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קראו קודם מה נשאל, ורק אז את התרחיש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2960" y="523951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3A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הרבה טעויות נובעות מסימון הדבר הבולט בסיפור במקום הדבר שנשאלתם עליו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F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566160"/>
            <a:ext cx="5669280" cy="5669280"/>
          </a:xfrm>
          <a:prstGeom prst="ellipse">
            <a:avLst/>
          </a:prstGeom>
          <a:solidFill>
            <a:srgbClr val="34467F">
              <a:alpha val="4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E2664F">
              <a:alpha val="28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בהצלחה</a:t>
            </a: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בבחינה</a:t>
            </a:r>
            <a:r>
              <a:rPr lang="he-IL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2600" noProof="0" dirty="0">
                <a:solidFill>
                  <a:srgbClr val="C6C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ובעיקר, בהצלחה בכל אינטראקציה תקשורתית שתבוא אחריה.</a:t>
            </a:r>
            <a:endParaRPr lang="he-IL" sz="26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4">
      <a:dk1>
        <a:srgbClr val="000000"/>
      </a:dk1>
      <a:lt1>
        <a:srgbClr val="DEF6F1"/>
      </a:lt1>
      <a:dk2>
        <a:srgbClr val="000000"/>
      </a:dk2>
      <a:lt2>
        <a:srgbClr val="969696"/>
      </a:lt2>
      <a:accent1>
        <a:srgbClr val="FFFFFF"/>
      </a:accent1>
      <a:accent2>
        <a:srgbClr val="8DC6FF"/>
      </a:accent2>
      <a:accent3>
        <a:srgbClr val="ECFAF7"/>
      </a:accent3>
      <a:accent4>
        <a:srgbClr val="000000"/>
      </a:accent4>
      <a:accent5>
        <a:srgbClr val="FFFFFF"/>
      </a:accent5>
      <a:accent6>
        <a:srgbClr val="7FB3E7"/>
      </a:accent6>
      <a:hlink>
        <a:srgbClr val="0066CC"/>
      </a:hlink>
      <a:folHlink>
        <a:srgbClr val="00A8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56000"/>
          </a:scheme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he-IL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56000"/>
          </a:scheme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he-IL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r" rtl="1">
          <a:defRPr sz="2400" dirty="0" smtClean="0">
            <a:latin typeface="Heebo" pitchFamily="2" charset="-79"/>
            <a:cs typeface="Heebo" pitchFamily="2" charset="-79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5078</Words>
  <Application>Microsoft Office PowerPoint</Application>
  <PresentationFormat>Widescreen</PresentationFormat>
  <Paragraphs>915</Paragraphs>
  <Slides>67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Aptos</vt:lpstr>
      <vt:lpstr>Arial</vt:lpstr>
      <vt:lpstr>Calibri</vt:lpstr>
      <vt:lpstr>David</vt:lpstr>
      <vt:lpstr>Heebo</vt:lpstr>
      <vt:lpstr>Monotype Corsiva</vt:lpstr>
      <vt:lpstr>Noto Sans Hebrew</vt:lpstr>
      <vt:lpstr>Office Theme</vt:lpstr>
      <vt:lpstr>Default Design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שאלת חזרה</vt:lpstr>
      <vt:lpstr>PowerPoint Presentation</vt:lpstr>
      <vt:lpstr>PowerPoint Presentation</vt:lpstr>
      <vt:lpstr>מושגים מרכזיים בתקשורת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הקשבה אמפתית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שיחת הלמידה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שאלה לחזרה</vt:lpstr>
      <vt:lpstr>שאלת חזרה</vt:lpstr>
      <vt:lpstr>שאלה לחזרה</vt:lpstr>
      <vt:lpstr>שאלת חזרה</vt:lpstr>
      <vt:lpstr>שאלת חזרה</vt:lpstr>
      <vt:lpstr>שאלת חזרה</vt:lpstr>
      <vt:lpstr>שאלת חזרה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תקשורת בין אישית בארגונים — שיעור חזרה</dc:title>
  <dc:subject>PptxGenJS Presentation</dc:subject>
  <dc:creator>Kinneret Academic College</dc:creator>
  <cp:lastModifiedBy>ניבה דולב</cp:lastModifiedBy>
  <cp:revision>5</cp:revision>
  <dcterms:created xsi:type="dcterms:W3CDTF">2026-07-28T22:13:52Z</dcterms:created>
  <dcterms:modified xsi:type="dcterms:W3CDTF">2026-08-02T13:50:50Z</dcterms:modified>
</cp:coreProperties>
</file>